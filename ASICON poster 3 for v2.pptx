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32398970" cy="431990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 userDrawn="1">
          <p15:clr>
            <a:srgbClr val="A4A3A4"/>
          </p15:clr>
        </p15:guide>
        <p15:guide id="2" pos="102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13606"/>
        <p:guide pos="10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0" y="0"/>
            <a:ext cx="32398970" cy="431990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 sz="2000"/>
          </a:p>
        </p:txBody>
      </p:sp>
      <p:sp>
        <p:nvSpPr>
          <p:cNvPr id="3" name="Rectangles 2"/>
          <p:cNvSpPr/>
          <p:nvPr/>
        </p:nvSpPr>
        <p:spPr>
          <a:xfrm>
            <a:off x="0" y="0"/>
            <a:ext cx="32398970" cy="381000"/>
          </a:xfrm>
          <a:prstGeom prst="rect">
            <a:avLst/>
          </a:prstGeom>
          <a:solidFill>
            <a:srgbClr val="8A153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1270000" y="1016000"/>
            <a:ext cx="29858970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IN" altLang="en-US" sz="6600" b="1">
                <a:solidFill>
                  <a:srgbClr val="8A15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RARE CASE OF MECKEL’S DIVERTICULUM CAUSING SMALL INTESTINAL OBSTRUCTION IN A 4 YEAR OLD BOY</a:t>
            </a:r>
            <a:endParaRPr lang="en-IN" altLang="en-US" sz="6600" b="1">
              <a:solidFill>
                <a:srgbClr val="8A15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270000" y="3302000"/>
            <a:ext cx="229755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IN" altLang="en-US" sz="3600">
                <a:solidFill>
                  <a:srgbClr val="34495E"/>
                </a:solidFill>
                <a:latin typeface="Trebuchet MS" panose="020B0603020202020204" charset="0"/>
                <a:cs typeface="Trebuchet MS" panose="020B0603020202020204" charset="0"/>
              </a:rPr>
              <a:t>Presenting Author: Dr. S. Ahamed Faheemudeen | Under the Guidance of: Prof &amp; HOD Dr. P. S. Saravanan</a:t>
            </a:r>
            <a:endParaRPr lang="en-IN" altLang="en-US" sz="3600">
              <a:solidFill>
                <a:srgbClr val="34495E"/>
              </a:solidFill>
              <a:latin typeface="Trebuchet MS" panose="020B0603020202020204" charset="0"/>
              <a:cs typeface="Trebuchet MS" panose="020B0603020202020204" charset="0"/>
            </a:endParaRPr>
          </a:p>
          <a:p>
            <a:pPr algn="l"/>
            <a:r>
              <a:rPr lang="en-IN" altLang="en-US" sz="3600">
                <a:solidFill>
                  <a:srgbClr val="34495E"/>
                </a:solidFill>
                <a:latin typeface="Trebuchet MS" panose="020B0603020202020204" charset="0"/>
                <a:cs typeface="Trebuchet MS" panose="020B0603020202020204" charset="0"/>
              </a:rPr>
              <a:t>Institution: Meenakshi Medical Collge Hospital and Research center, Kanchipuram.</a:t>
            </a:r>
            <a:endParaRPr lang="en-IN" altLang="en-US" sz="3600">
              <a:solidFill>
                <a:srgbClr val="34495E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35000" y="4399915"/>
            <a:ext cx="47047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IN" altLang="en-US" sz="3600" b="1">
                <a:solidFill>
                  <a:srgbClr val="8A1538"/>
                </a:solidFill>
                <a:latin typeface="Trebuchet MS" panose="020B0603020202020204" charset="0"/>
                <a:cs typeface="Trebuchet MS" panose="020B0603020202020204" charset="0"/>
              </a:rPr>
              <a:t>Abstract ID: AS549</a:t>
            </a:r>
            <a:endParaRPr lang="en-IN" altLang="en-US" sz="3600" b="1">
              <a:solidFill>
                <a:srgbClr val="8A1538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270000" y="5080000"/>
            <a:ext cx="29858970" cy="635"/>
          </a:xfrm>
          <a:prstGeom prst="line">
            <a:avLst/>
          </a:prstGeom>
          <a:ln w="254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s 7"/>
          <p:cNvSpPr/>
          <p:nvPr/>
        </p:nvSpPr>
        <p:spPr>
          <a:xfrm>
            <a:off x="12700000" y="5715000"/>
            <a:ext cx="19050000" cy="34925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 sz="2000"/>
          </a:p>
        </p:txBody>
      </p:sp>
      <p:sp>
        <p:nvSpPr>
          <p:cNvPr id="9" name="Text Box 8"/>
          <p:cNvSpPr txBox="1"/>
          <p:nvPr/>
        </p:nvSpPr>
        <p:spPr>
          <a:xfrm>
            <a:off x="1270000" y="6096000"/>
            <a:ext cx="10795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IN" altLang="en-US" sz="4000" b="1">
                <a:solidFill>
                  <a:srgbClr val="8A1538"/>
                </a:solidFill>
                <a:latin typeface="Trebuchet MS" panose="020B0603020202020204" charset="0"/>
                <a:cs typeface="Trebuchet MS" panose="020B0603020202020204" charset="0"/>
              </a:rPr>
              <a:t>INTRODUCTION</a:t>
            </a:r>
            <a:endParaRPr lang="en-IN" altLang="en-US" sz="4000" b="1">
              <a:solidFill>
                <a:srgbClr val="8A1538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270000" y="6921500"/>
            <a:ext cx="10795000" cy="635"/>
          </a:xfrm>
          <a:prstGeom prst="line">
            <a:avLst/>
          </a:prstGeom>
          <a:ln w="508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270000" y="6928485"/>
            <a:ext cx="10795000" cy="9754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MECKEL’S DIVERTICULUM(MD) :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Most common congenital anomaly of the GI tract.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Results from failure of normal regression of Vitelline duct (5-7wks)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 b="1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of 2’s:</a:t>
            </a:r>
            <a:endParaRPr lang="en-IN" altLang="en-US" sz="3600" b="1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Occurs in roughly 2% of the population.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Typically situated within 2 feet proximal to the ileocecal valve &amp; 2 inches in length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Most frequently becomes symptomatic before the age of 2 years.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Contains 2 types of ectopic tissue: gastric mucosa (70% ) and pancreatic tissue (5%).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Primary clinical manifestations include gastrointestinal hemorrhage, diverticulitis, and mechanical bowel obstruction.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270000" y="17438370"/>
            <a:ext cx="10795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IN" altLang="en-US" sz="4000" b="1">
                <a:solidFill>
                  <a:srgbClr val="8A1538"/>
                </a:solidFill>
                <a:latin typeface="Trebuchet MS" panose="020B0603020202020204" charset="0"/>
                <a:cs typeface="Trebuchet MS" panose="020B0603020202020204" charset="0"/>
              </a:rPr>
              <a:t>CASE REPORT PRESENTATION</a:t>
            </a:r>
            <a:endParaRPr lang="en-IN" altLang="en-US" sz="4000" b="1">
              <a:solidFill>
                <a:srgbClr val="8A1538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270000" y="18191480"/>
            <a:ext cx="10795000" cy="635"/>
          </a:xfrm>
          <a:prstGeom prst="line">
            <a:avLst/>
          </a:prstGeom>
          <a:ln w="508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1270000" y="18237835"/>
            <a:ext cx="10795000" cy="94837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4-year-old male child was brought to the outpatient department reporting a 24-hour history of diffuse, colicky abdominal pain. This was accompanied by constipation, progressive abdominal distension, and episodes of non-bilious emesis, alongside a documented fever.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physical examination, the pediatric patient appeared lethargic, exhibiting diffuse abdominal tenderness and hypoactive bowel sounds.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CECT Abdomen &amp; Pelvis shows dilated small bowel loops (jejunal, proximal ileal loops) with multiple air fluid levels. F/s/o Small Bowel Obstruction due to adhesions or internal hernia.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270000" y="28051125"/>
            <a:ext cx="10795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IN" altLang="en-US" sz="4000" b="1">
                <a:solidFill>
                  <a:srgbClr val="8A1538"/>
                </a:solidFill>
                <a:latin typeface="Trebuchet MS" panose="020B0603020202020204" charset="0"/>
                <a:cs typeface="Trebuchet MS" panose="020B0603020202020204" charset="0"/>
              </a:rPr>
              <a:t>CONCLUSION</a:t>
            </a:r>
            <a:endParaRPr lang="en-IN" altLang="en-US" sz="4000" b="1">
              <a:solidFill>
                <a:srgbClr val="8A1538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270000" y="28757245"/>
            <a:ext cx="10795000" cy="635"/>
          </a:xfrm>
          <a:prstGeom prst="line">
            <a:avLst/>
          </a:prstGeom>
          <a:ln w="508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1270000" y="28780105"/>
            <a:ext cx="10795000" cy="58464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MD must remain a key consideration in the differential diagnosis for pediatric patients presenting with an acute abdomen, unexplained lower GI hemorrhage, or Small bowel obstruction.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diagnostic evaluation and timely surgical management are critical to minimizing morbidity in symptomatic cases. Incidentally found asymptomatic MD should be left alone.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270000" y="34648775"/>
            <a:ext cx="10795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IN" altLang="en-US" sz="4000" b="1">
                <a:solidFill>
                  <a:srgbClr val="8A1538"/>
                </a:solidFill>
                <a:latin typeface="Trebuchet MS" panose="020B0603020202020204" charset="0"/>
                <a:cs typeface="Trebuchet MS" panose="020B0603020202020204" charset="0"/>
              </a:rPr>
              <a:t>REFERENCES</a:t>
            </a:r>
            <a:endParaRPr lang="en-IN" altLang="en-US" sz="4000" b="1">
              <a:solidFill>
                <a:srgbClr val="8A1538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0000" y="35377755"/>
            <a:ext cx="10795000" cy="635"/>
          </a:xfrm>
          <a:prstGeom prst="line">
            <a:avLst/>
          </a:prstGeom>
          <a:ln w="508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1270000" y="35713035"/>
            <a:ext cx="10795000" cy="4108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360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Rattan KN, Singh J, Dalal P, Rattan A. Meckel's diverticulum in children: Our 12-year experience. Afr J Paediatr Surg. 2016 Oct-Dec;13(4):170-174. doi: 10.4103/0189-6725.194671. PMID: 28051045; PMCID: PMC5154221.</a:t>
            </a:r>
            <a:endParaRPr lang="en-IN" altLang="en-US" sz="3600">
              <a:solidFill>
                <a:srgbClr val="505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3335000" y="6096000"/>
            <a:ext cx="1778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IN" altLang="en-US" sz="4000" b="1">
                <a:solidFill>
                  <a:srgbClr val="8A1538"/>
                </a:solidFill>
                <a:latin typeface="Trebuchet MS" panose="020B0603020202020204" charset="0"/>
                <a:cs typeface="Trebuchet MS" panose="020B0603020202020204" charset="0"/>
              </a:rPr>
              <a:t>INTRAOPERATIVE FINDINGS</a:t>
            </a:r>
            <a:endParaRPr lang="en-IN" altLang="en-US" sz="4000" b="1">
              <a:solidFill>
                <a:srgbClr val="8A1538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13335000" y="6921500"/>
            <a:ext cx="17780000" cy="635"/>
          </a:xfrm>
          <a:prstGeom prst="line">
            <a:avLst/>
          </a:prstGeom>
          <a:ln w="508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>
            <a:off x="13335000" y="7112000"/>
            <a:ext cx="17780000" cy="3939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Exploratory Laparotomy done. Meckel’s Diverticulum identified and diverticulum was attached to its base forming a band under which a loop of small intestine had become entraped resulting in mechanical obstruction of the small intestine.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diverticulum along with the adjancent strangulated small bowel loops were resected and side to side bowel anastomosis with double layer closure done, subsequent histopathological analysis confirming ectopic gastric tissue.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3335000" y="21844000"/>
            <a:ext cx="1778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IN" altLang="en-US" sz="4000" b="1">
                <a:solidFill>
                  <a:srgbClr val="8A1538"/>
                </a:solidFill>
                <a:latin typeface="Trebuchet MS" panose="020B0603020202020204" charset="0"/>
                <a:cs typeface="Trebuchet MS" panose="020B0603020202020204" charset="0"/>
              </a:rPr>
              <a:t>RESULTS</a:t>
            </a:r>
            <a:endParaRPr lang="en-IN" altLang="en-US" sz="4000" b="1">
              <a:solidFill>
                <a:srgbClr val="8A1538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3335000" y="22669500"/>
            <a:ext cx="17780000" cy="635"/>
          </a:xfrm>
          <a:prstGeom prst="line">
            <a:avLst/>
          </a:prstGeom>
          <a:ln w="508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Text Box 26"/>
          <p:cNvSpPr txBox="1"/>
          <p:nvPr/>
        </p:nvSpPr>
        <p:spPr>
          <a:xfrm>
            <a:off x="13335000" y="22860000"/>
            <a:ext cx="17780000" cy="3483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Histopathological biopsy of the specimen shows: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Glandular or acinar structures resembling pancreatic acini-suggests ectopic pancreatic tissue.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Ectopic gastric mucosa with foveolar cells, parietal cells(pink),chief cells(purple)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 Gastric type mucosa with mucosal discontinuity, haemorrhage suggests ulceration.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3335000" y="26670000"/>
            <a:ext cx="5588000" cy="5080000"/>
          </a:xfrm>
          <a:prstGeom prst="rect">
            <a:avLst/>
          </a:prstGeom>
          <a:solidFill>
            <a:srgbClr val="EBEEF2"/>
          </a:solidFill>
          <a:ln w="25400">
            <a:solidFill>
              <a:srgbClr val="AAAFB4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>
                <a:solidFill>
                  <a:srgbClr val="787D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[Image A]</a:t>
            </a:r>
            <a:endParaRPr lang="en-IN" altLang="en-US" sz="3200" b="1">
              <a:solidFill>
                <a:srgbClr val="787D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9431000" y="26670000"/>
            <a:ext cx="5588000" cy="5080000"/>
          </a:xfrm>
          <a:prstGeom prst="rect">
            <a:avLst/>
          </a:prstGeom>
          <a:solidFill>
            <a:srgbClr val="EBEEF2"/>
          </a:solidFill>
          <a:ln w="25400">
            <a:solidFill>
              <a:srgbClr val="AAAFB4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>
                <a:solidFill>
                  <a:srgbClr val="787D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[Image B]</a:t>
            </a:r>
            <a:endParaRPr lang="en-IN" altLang="en-US" sz="3200" b="1">
              <a:solidFill>
                <a:srgbClr val="787D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25527000" y="26670000"/>
            <a:ext cx="5588000" cy="5080000"/>
          </a:xfrm>
          <a:prstGeom prst="rect">
            <a:avLst/>
          </a:prstGeom>
          <a:solidFill>
            <a:srgbClr val="EBEEF2"/>
          </a:solidFill>
          <a:ln w="25400">
            <a:solidFill>
              <a:srgbClr val="AAAFB4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>
                <a:solidFill>
                  <a:srgbClr val="787D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[Image C]</a:t>
            </a:r>
            <a:endParaRPr lang="en-IN" altLang="en-US" sz="3200" b="1">
              <a:solidFill>
                <a:srgbClr val="787D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13335000" y="32766000"/>
            <a:ext cx="1778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IN" altLang="en-US" sz="4000" b="1">
                <a:solidFill>
                  <a:srgbClr val="8A1538"/>
                </a:solidFill>
                <a:latin typeface="Trebuchet MS" panose="020B0603020202020204" charset="0"/>
                <a:cs typeface="Trebuchet MS" panose="020B0603020202020204" charset="0"/>
              </a:rPr>
              <a:t>DISCUSSION</a:t>
            </a:r>
            <a:endParaRPr lang="en-IN" altLang="en-US" sz="4000" b="1">
              <a:solidFill>
                <a:srgbClr val="8A1538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3335000" y="33591500"/>
            <a:ext cx="17780000" cy="635"/>
          </a:xfrm>
          <a:prstGeom prst="line">
            <a:avLst/>
          </a:prstGeom>
          <a:ln w="508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Text Box 32"/>
          <p:cNvSpPr txBox="1"/>
          <p:nvPr/>
        </p:nvSpPr>
        <p:spPr>
          <a:xfrm>
            <a:off x="13348970" y="33868995"/>
            <a:ext cx="17780000" cy="6051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Intestinal obstruction is an uncommon presentation of MD. In our case patient presented with severe abdominalpain, distension raising suspicion of MD, surgical exploration confirmed diverticulum.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en-IN" altLang="en-US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HPE revealed ectopic gastric mucosa, pancreatic tissue, mucosal ulceration confirming diagnosis of MD.</a:t>
            </a:r>
            <a:endParaRPr lang="en-IN" altLang="en-US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0" y="41675050"/>
            <a:ext cx="32398970" cy="1524000"/>
          </a:xfrm>
          <a:prstGeom prst="rect">
            <a:avLst/>
          </a:prstGeom>
          <a:solidFill>
            <a:srgbClr val="34495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 sz="2000"/>
          </a:p>
        </p:txBody>
      </p:sp>
      <p:sp>
        <p:nvSpPr>
          <p:cNvPr id="35" name="Text Box 34"/>
          <p:cNvSpPr txBox="1"/>
          <p:nvPr/>
        </p:nvSpPr>
        <p:spPr>
          <a:xfrm>
            <a:off x="635000" y="41992550"/>
            <a:ext cx="311289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IN" altLang="en-US" sz="3200">
                <a:solidFill>
                  <a:srgbClr val="FFFFFF"/>
                </a:solidFill>
                <a:latin typeface="Trebuchet MS" panose="020B0603020202020204" charset="0"/>
                <a:cs typeface="Trebuchet MS" panose="020B0603020202020204" charset="0"/>
              </a:rPr>
              <a:t>49th Annual State Conference of the Tamil Nadu Chapter of Association of Surgeons of India – 06th to 09th August 2026 | Venue: PSG Hospitals, Coimbatore</a:t>
            </a:r>
            <a:endParaRPr lang="en-IN" altLang="en-US" sz="3200">
              <a:solidFill>
                <a:srgbClr val="FFFFFF"/>
              </a:solidFill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2365" y="1871345"/>
            <a:ext cx="6097905" cy="3000375"/>
          </a:xfrm>
          <a:prstGeom prst="rect">
            <a:avLst/>
          </a:prstGeom>
        </p:spPr>
      </p:pic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/>
          <a:srcRect t="22939" b="7272"/>
          <a:stretch>
            <a:fillRect/>
          </a:stretch>
        </p:blipFill>
        <p:spPr bwMode="auto">
          <a:xfrm>
            <a:off x="15274925" y="12114530"/>
            <a:ext cx="13900150" cy="907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C:\Users\USER\Downloads\WhatsApp Image 2025-08-28 at 4.43.05 PM.jpeg"/>
          <p:cNvPicPr>
            <a:picLocks noChangeAspect="1" noChangeArrowheads="1"/>
          </p:cNvPicPr>
          <p:nvPr/>
        </p:nvPicPr>
        <p:blipFill>
          <a:blip r:embed="rId3" cstate="print"/>
          <a:srcRect l="15359" t="8034" r="42416" b="41533"/>
          <a:stretch>
            <a:fillRect/>
          </a:stretch>
        </p:blipFill>
        <p:spPr bwMode="auto">
          <a:xfrm>
            <a:off x="13333730" y="26653490"/>
            <a:ext cx="5589905" cy="5154295"/>
          </a:xfrm>
          <a:prstGeom prst="rect">
            <a:avLst/>
          </a:prstGeom>
          <a:noFill/>
        </p:spPr>
      </p:pic>
      <p:pic>
        <p:nvPicPr>
          <p:cNvPr id="1030" name="Picture 6" descr="C:\Users\USER\Downloads\WhatsApp Image 2025-08-28 at 4.43.06 PM.jpeg"/>
          <p:cNvPicPr>
            <a:picLocks noChangeAspect="1" noChangeArrowheads="1"/>
          </p:cNvPicPr>
          <p:nvPr/>
        </p:nvPicPr>
        <p:blipFill>
          <a:blip r:embed="rId4" cstate="print"/>
          <a:srcRect l="11608" t="24383" r="66477" b="51436"/>
          <a:stretch>
            <a:fillRect/>
          </a:stretch>
        </p:blipFill>
        <p:spPr bwMode="auto">
          <a:xfrm>
            <a:off x="19408140" y="26653490"/>
            <a:ext cx="5679440" cy="5091430"/>
          </a:xfrm>
          <a:prstGeom prst="rect">
            <a:avLst/>
          </a:prstGeom>
          <a:noFill/>
        </p:spPr>
      </p:pic>
      <p:pic>
        <p:nvPicPr>
          <p:cNvPr id="1031" name="Picture 7" descr="C:\Users\USER\Downloads\WhatsApp Image 2025-08-28 at 4.43.07 PM.jpeg"/>
          <p:cNvPicPr>
            <a:picLocks noChangeAspect="1" noChangeArrowheads="1"/>
          </p:cNvPicPr>
          <p:nvPr/>
        </p:nvPicPr>
        <p:blipFill>
          <a:blip r:embed="rId5" cstate="print"/>
          <a:srcRect l="7190" t="28381" r="59953" b="34286"/>
          <a:stretch>
            <a:fillRect/>
          </a:stretch>
        </p:blipFill>
        <p:spPr bwMode="auto">
          <a:xfrm>
            <a:off x="25503505" y="26633170"/>
            <a:ext cx="5616575" cy="51631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3353</Words>
  <Application>WPS Presentation</Application>
  <PresentationFormat>Widescreen</PresentationFormat>
  <Paragraphs>63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 Unicode MS</vt:lpstr>
      <vt:lpstr>Microsoft YaHei</vt:lpstr>
      <vt:lpstr>Calibri</vt:lpstr>
      <vt:lpstr>Trebuchet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OMR-PC</dc:creator>
  <cp:lastModifiedBy>shaheer ahamed</cp:lastModifiedBy>
  <cp:revision>3</cp:revision>
  <dcterms:created xsi:type="dcterms:W3CDTF">2025-07-23T00:59:00Z</dcterms:created>
  <dcterms:modified xsi:type="dcterms:W3CDTF">2026-07-25T15:44:46Z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AF8AB3F4325F4575B9DE293245C329D4_11</vt:lpwstr>
  </property>
  <property fmtid="{D5CDD505-2E9C-101B-9397-08002B2CF9AE}" pid="3" name="KSOProductBuildVer">
    <vt:lpwstr>2057-12.2.0.23206</vt:lpwstr>
  </property>
</Properties>
</file>