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2400000" cy="43200000"/>
  <p:notesSz cx="43200000" cy="324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jpeg"/><Relationship Id="rId3" Type="http://schemas.openxmlformats.org/officeDocument/2006/relationships/image" Target="../media/image-1-3.jpeg"/><Relationship Id="rId4" Type="http://schemas.openxmlformats.org/officeDocument/2006/relationships/image" Target="../media/image-1-4.jpeg"/><Relationship Id="rId5" Type="http://schemas.openxmlformats.org/officeDocument/2006/relationships/image" Target="../media/image-1-5.jpeg"/><Relationship Id="rId6" Type="http://schemas.openxmlformats.org/officeDocument/2006/relationships/image" Target="../media/image-1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0000" y="720000"/>
            <a:ext cx="30960000" cy="5212080"/>
          </a:xfrm>
          <a:prstGeom prst="roundRect">
            <a:avLst>
              <a:gd name="adj" fmla="val 2105"/>
            </a:avLst>
          </a:prstGeom>
          <a:solidFill>
            <a:srgbClr val="12355B"/>
          </a:solidFill>
          <a:ln/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26193600" y="1012608"/>
            <a:ext cx="5394960" cy="3013823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4" name="Image 0" descr="/home/user/career-ops/6-tnasicon-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30760" y="1149768"/>
            <a:ext cx="5120640" cy="273950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22920" y="1131480"/>
            <a:ext cx="2465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UNMASKING BREAST CANCER IN THE ACUTE ABDOMEN:</a:t>
            </a:r>
            <a:endParaRPr lang="en-US" sz="4500" dirty="0"/>
          </a:p>
        </p:txBody>
      </p:sp>
      <p:sp>
        <p:nvSpPr>
          <p:cNvPr id="6" name="Text 3"/>
          <p:cNvSpPr/>
          <p:nvPr/>
        </p:nvSpPr>
        <p:spPr>
          <a:xfrm>
            <a:off x="1222920" y="2137320"/>
            <a:ext cx="2995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i="1" dirty="0">
                <a:solidFill>
                  <a:srgbClr val="DCE6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Rare Case of Metastatic Ileal Perforation from Invasive Ductal Carcinoma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1222920" y="3051720"/>
            <a:ext cx="29954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28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 </a:t>
            </a:r>
            <a:pPr algn="l" indent="0" marL="0">
              <a:spcAft>
                <a:spcPts val="9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Alla Varun Reddy</a:t>
            </a:r>
            <a:endParaRPr lang="en-US" sz="28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24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guidance of  </a:t>
            </a:r>
            <a:pPr algn="l" indent="0" marL="0"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&amp; HOD Dr. P. S. Saravanan</a:t>
            </a:r>
            <a:pPr algn="l" indent="0" marL="0">
              <a:spcAft>
                <a:spcPts val="900"/>
              </a:spcAft>
              <a:buNone/>
            </a:pPr>
            <a:r>
              <a:rPr lang="en-US" sz="2400" dirty="0">
                <a:solidFill>
                  <a:srgbClr val="9F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</a:t>
            </a:r>
            <a:pPr algn="l" indent="0" marL="0"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Manoj Priyan</a:t>
            </a:r>
            <a:endParaRPr lang="en-US" sz="28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2100" i="1" dirty="0">
                <a:solidFill>
                  <a:srgbClr val="9F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General Surgery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20000" y="6316128"/>
            <a:ext cx="8412768" cy="8046720"/>
          </a:xfrm>
          <a:prstGeom prst="roundRect">
            <a:avLst>
              <a:gd name="adj" fmla="val 1136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030896" y="8135784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0" name="Text 7"/>
          <p:cNvSpPr/>
          <p:nvPr/>
        </p:nvSpPr>
        <p:spPr>
          <a:xfrm>
            <a:off x="1506384" y="8035200"/>
            <a:ext cx="731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1030896" y="8785008"/>
            <a:ext cx="7790976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Intestinal metastasis from breast carcinoma is uncommon.</a:t>
            </a:r>
            <a:endParaRPr lang="en-US" sz="27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Perforation as the initial manifestation is exceedingly rare.</a:t>
            </a:r>
            <a:endParaRPr lang="en-US" sz="27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limited number of similar cases have been reported.</a:t>
            </a:r>
            <a:endParaRPr lang="en-US" sz="27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acute surgical abdomen may represent the first presentation of metastatic malignancy.</a:t>
            </a:r>
            <a:endParaRPr lang="en-US" sz="2700" dirty="0"/>
          </a:p>
        </p:txBody>
      </p:sp>
      <p:sp>
        <p:nvSpPr>
          <p:cNvPr id="12" name="Shape 9"/>
          <p:cNvSpPr/>
          <p:nvPr/>
        </p:nvSpPr>
        <p:spPr>
          <a:xfrm>
            <a:off x="720000" y="16249344"/>
            <a:ext cx="8412768" cy="7534656"/>
          </a:xfrm>
          <a:prstGeom prst="roundRect">
            <a:avLst>
              <a:gd name="adj" fmla="val 1214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030896" y="18069000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4" name="Text 11"/>
          <p:cNvSpPr/>
          <p:nvPr/>
        </p:nvSpPr>
        <p:spPr>
          <a:xfrm>
            <a:off x="1506384" y="17968416"/>
            <a:ext cx="731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Presentation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1030896" y="18718224"/>
            <a:ext cx="7790976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27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38-year-old woman with abdominal pain for two days.</a:t>
            </a:r>
            <a:endParaRPr lang="en-US" sz="27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chronic NSAID abuse for pain related to a right breast lump, which had been misdiagnosed as a breast abscess.</a:t>
            </a:r>
            <a:endParaRPr lang="en-US" sz="27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examination: tachycardic, with generalized abdominal rigidity.</a:t>
            </a:r>
            <a:endParaRPr lang="en-US" sz="2700" dirty="0"/>
          </a:p>
        </p:txBody>
      </p:sp>
      <p:sp>
        <p:nvSpPr>
          <p:cNvPr id="16" name="Shape 13"/>
          <p:cNvSpPr/>
          <p:nvPr/>
        </p:nvSpPr>
        <p:spPr>
          <a:xfrm>
            <a:off x="720000" y="25670496"/>
            <a:ext cx="8412768" cy="6199632"/>
          </a:xfrm>
          <a:prstGeom prst="roundRect">
            <a:avLst>
              <a:gd name="adj" fmla="val 1475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1030896" y="27490152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8" name="Text 15"/>
          <p:cNvSpPr/>
          <p:nvPr/>
        </p:nvSpPr>
        <p:spPr>
          <a:xfrm>
            <a:off x="1506384" y="27389568"/>
            <a:ext cx="731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000" dirty="0"/>
          </a:p>
        </p:txBody>
      </p:sp>
      <p:sp>
        <p:nvSpPr>
          <p:cNvPr id="19" name="Text 16"/>
          <p:cNvSpPr/>
          <p:nvPr/>
        </p:nvSpPr>
        <p:spPr>
          <a:xfrm>
            <a:off x="1030896" y="28139376"/>
            <a:ext cx="7790976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27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Erect abdominal radiograph demonstrated pneumoperitoneum.</a:t>
            </a:r>
            <a:endParaRPr lang="en-US" sz="27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prompted emergency exploratory laparotomy (see Figs 2–3).</a:t>
            </a:r>
            <a:endParaRPr lang="en-US" sz="2700" dirty="0"/>
          </a:p>
        </p:txBody>
      </p:sp>
      <p:sp>
        <p:nvSpPr>
          <p:cNvPr id="20" name="Shape 17"/>
          <p:cNvSpPr/>
          <p:nvPr/>
        </p:nvSpPr>
        <p:spPr>
          <a:xfrm>
            <a:off x="720000" y="33756624"/>
            <a:ext cx="8412768" cy="7534656"/>
          </a:xfrm>
          <a:prstGeom prst="roundRect">
            <a:avLst>
              <a:gd name="adj" fmla="val 1214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030896" y="35576280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2" name="Text 19"/>
          <p:cNvSpPr/>
          <p:nvPr/>
        </p:nvSpPr>
        <p:spPr>
          <a:xfrm>
            <a:off x="1506384" y="35475696"/>
            <a:ext cx="731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Operative Findings</a:t>
            </a:r>
            <a:endParaRPr lang="en-US" sz="3000" dirty="0"/>
          </a:p>
        </p:txBody>
      </p:sp>
      <p:sp>
        <p:nvSpPr>
          <p:cNvPr id="23" name="Text 20"/>
          <p:cNvSpPr/>
          <p:nvPr/>
        </p:nvSpPr>
        <p:spPr>
          <a:xfrm>
            <a:off x="1030896" y="36225504"/>
            <a:ext cx="7790976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exploratory laparotomy performed.</a:t>
            </a:r>
            <a:endParaRPr lang="en-US" sz="27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27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Solitary ileal perforation ≈ 0.5 × 0.5 cm, located 40 cm proximal to the ileocaecal junction.</a:t>
            </a:r>
            <a:endParaRPr lang="en-US" sz="27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closure of the perforation performed after obtaining a biopsy from the perforation margin.</a:t>
            </a:r>
            <a:endParaRPr lang="en-US" sz="2700" dirty="0"/>
          </a:p>
        </p:txBody>
      </p:sp>
      <p:sp>
        <p:nvSpPr>
          <p:cNvPr id="24" name="Shape 21"/>
          <p:cNvSpPr/>
          <p:nvPr/>
        </p:nvSpPr>
        <p:spPr>
          <a:xfrm>
            <a:off x="23267232" y="6316128"/>
            <a:ext cx="8412768" cy="6611112"/>
          </a:xfrm>
          <a:prstGeom prst="roundRect">
            <a:avLst>
              <a:gd name="adj" fmla="val 1383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23578128" y="8135784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6" name="Text 23"/>
          <p:cNvSpPr/>
          <p:nvPr/>
        </p:nvSpPr>
        <p:spPr>
          <a:xfrm>
            <a:off x="24053616" y="8035200"/>
            <a:ext cx="731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Histopathology</a:t>
            </a:r>
            <a:endParaRPr lang="en-US" sz="3000" dirty="0"/>
          </a:p>
        </p:txBody>
      </p:sp>
      <p:sp>
        <p:nvSpPr>
          <p:cNvPr id="27" name="Text 24"/>
          <p:cNvSpPr/>
          <p:nvPr/>
        </p:nvSpPr>
        <p:spPr>
          <a:xfrm>
            <a:off x="23578128" y="8785008"/>
            <a:ext cx="7790976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27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Trucut biopsy of the breast lump confirmed invasive ductal carcinoma.</a:t>
            </a:r>
            <a:endParaRPr lang="en-US" sz="27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27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Histopathology of the ileal biopsy demonstrated metastatic deposits at the perforation site.</a:t>
            </a:r>
            <a:endParaRPr lang="en-US" sz="2700" dirty="0"/>
          </a:p>
        </p:txBody>
      </p:sp>
      <p:sp>
        <p:nvSpPr>
          <p:cNvPr id="28" name="Shape 25"/>
          <p:cNvSpPr/>
          <p:nvPr/>
        </p:nvSpPr>
        <p:spPr>
          <a:xfrm>
            <a:off x="23267232" y="14024304"/>
            <a:ext cx="8412768" cy="9281160"/>
          </a:xfrm>
          <a:prstGeom prst="roundRect">
            <a:avLst>
              <a:gd name="adj" fmla="val 1087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23578128" y="15843960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30" name="Text 27"/>
          <p:cNvSpPr/>
          <p:nvPr/>
        </p:nvSpPr>
        <p:spPr>
          <a:xfrm>
            <a:off x="24053616" y="15743376"/>
            <a:ext cx="731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3000" dirty="0"/>
          </a:p>
        </p:txBody>
      </p:sp>
      <p:sp>
        <p:nvSpPr>
          <p:cNvPr id="31" name="Text 28"/>
          <p:cNvSpPr/>
          <p:nvPr/>
        </p:nvSpPr>
        <p:spPr>
          <a:xfrm>
            <a:off x="23578128" y="16493184"/>
            <a:ext cx="7790976" cy="5129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Intestinal metastasis from breast carcinoma is uncommon, and perforation as the initial manifestation is exceedingly rare.</a:t>
            </a:r>
            <a:endParaRPr lang="en-US" sz="27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limited number of similar cases have been reported.</a:t>
            </a:r>
            <a:endParaRPr lang="en-US" sz="27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case highlights that an acute surgical abdomen may represent the first presentation of metastatic malignancy.</a:t>
            </a:r>
            <a:endParaRPr lang="en-US" sz="27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requires emergency surgery followed by evaluation of the primary breast malignancy.</a:t>
            </a:r>
            <a:endParaRPr lang="en-US" sz="2700" dirty="0"/>
          </a:p>
        </p:txBody>
      </p:sp>
      <p:sp>
        <p:nvSpPr>
          <p:cNvPr id="32" name="Shape 29"/>
          <p:cNvSpPr/>
          <p:nvPr/>
        </p:nvSpPr>
        <p:spPr>
          <a:xfrm>
            <a:off x="23267232" y="24402528"/>
            <a:ext cx="8412768" cy="8357616"/>
          </a:xfrm>
          <a:prstGeom prst="roundRect">
            <a:avLst>
              <a:gd name="adj" fmla="val 1094"/>
            </a:avLst>
          </a:prstGeom>
          <a:solidFill>
            <a:srgbClr val="FBF3DE"/>
          </a:solidFill>
          <a:ln w="19050">
            <a:solidFill>
              <a:srgbClr val="D4A017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23578128" y="26222184"/>
            <a:ext cx="310896" cy="31089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4" name="Text 31"/>
          <p:cNvSpPr/>
          <p:nvPr/>
        </p:nvSpPr>
        <p:spPr>
          <a:xfrm>
            <a:off x="24053616" y="26121600"/>
            <a:ext cx="731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Case Is Unique</a:t>
            </a:r>
            <a:endParaRPr lang="en-US" sz="3000" dirty="0"/>
          </a:p>
        </p:txBody>
      </p:sp>
      <p:sp>
        <p:nvSpPr>
          <p:cNvPr id="35" name="Text 32"/>
          <p:cNvSpPr/>
          <p:nvPr/>
        </p:nvSpPr>
        <p:spPr>
          <a:xfrm>
            <a:off x="23578128" y="26871408"/>
            <a:ext cx="779097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2700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Ileal perforation was the initial manifestation of previously unrecognised metastatic breast carcinoma.</a:t>
            </a:r>
            <a:endParaRPr lang="en-US" sz="27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2700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Perforation as the first presentation is exceedingly rare, with only a limited number of reported cases.</a:t>
            </a:r>
            <a:endParaRPr lang="en-US" sz="27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2700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that an acute surgical abdomen may be the first presentation of metastatic malignancy.</a:t>
            </a:r>
            <a:endParaRPr lang="en-US" sz="2700" dirty="0"/>
          </a:p>
        </p:txBody>
      </p:sp>
      <p:sp>
        <p:nvSpPr>
          <p:cNvPr id="36" name="Shape 33"/>
          <p:cNvSpPr/>
          <p:nvPr/>
        </p:nvSpPr>
        <p:spPr>
          <a:xfrm>
            <a:off x="23267232" y="33857208"/>
            <a:ext cx="8412768" cy="7434072"/>
          </a:xfrm>
          <a:prstGeom prst="roundRect">
            <a:avLst>
              <a:gd name="adj" fmla="val 1230"/>
            </a:avLst>
          </a:prstGeom>
          <a:solidFill>
            <a:srgbClr val="12355B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23578128" y="35676864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38" name="Text 35"/>
          <p:cNvSpPr/>
          <p:nvPr/>
        </p:nvSpPr>
        <p:spPr>
          <a:xfrm>
            <a:off x="24053616" y="35576280"/>
            <a:ext cx="731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39" name="Text 36"/>
          <p:cNvSpPr/>
          <p:nvPr/>
        </p:nvSpPr>
        <p:spPr>
          <a:xfrm>
            <a:off x="23578128" y="36326088"/>
            <a:ext cx="779097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27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Ileal perforation can rarely be the presenting manifestation of metastatic breast carcinoma.</a:t>
            </a:r>
            <a:endParaRPr lang="en-US" sz="27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27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 index of suspicion together with early histopathological confirmation is essential for accurate diagnosis and appropriate management.</a:t>
            </a:r>
            <a:endParaRPr lang="en-US" sz="2700" dirty="0"/>
          </a:p>
        </p:txBody>
      </p:sp>
      <p:sp>
        <p:nvSpPr>
          <p:cNvPr id="40" name="Shape 37"/>
          <p:cNvSpPr/>
          <p:nvPr/>
        </p:nvSpPr>
        <p:spPr>
          <a:xfrm>
            <a:off x="9589968" y="6389280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41" name="Text 38"/>
          <p:cNvSpPr/>
          <p:nvPr/>
        </p:nvSpPr>
        <p:spPr>
          <a:xfrm>
            <a:off x="10047168" y="6316128"/>
            <a:ext cx="12762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&amp; Diagnostic Sequence</a:t>
            </a:r>
            <a:endParaRPr lang="en-US" sz="3000" dirty="0"/>
          </a:p>
        </p:txBody>
      </p:sp>
      <p:sp>
        <p:nvSpPr>
          <p:cNvPr id="42" name="Shape 39"/>
          <p:cNvSpPr/>
          <p:nvPr/>
        </p:nvSpPr>
        <p:spPr>
          <a:xfrm>
            <a:off x="9589968" y="7157376"/>
            <a:ext cx="13220064" cy="7566778"/>
          </a:xfrm>
          <a:prstGeom prst="roundRect">
            <a:avLst>
              <a:gd name="adj" fmla="val 1208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9882576" y="8042117"/>
            <a:ext cx="5480483" cy="5797296"/>
          </a:xfrm>
          <a:prstGeom prst="roundRect">
            <a:avLst>
              <a:gd name="adj" fmla="val 100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44" name="Image 1" descr="/home/user/career-ops/4-breast-lump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6584" y="8106125"/>
            <a:ext cx="5352467" cy="5669280"/>
          </a:xfrm>
          <a:prstGeom prst="rect">
            <a:avLst/>
          </a:prstGeom>
        </p:spPr>
      </p:pic>
      <p:sp>
        <p:nvSpPr>
          <p:cNvPr id="45" name="Text 41"/>
          <p:cNvSpPr/>
          <p:nvPr/>
        </p:nvSpPr>
        <p:spPr>
          <a:xfrm>
            <a:off x="15774539" y="7157376"/>
            <a:ext cx="6742885" cy="7566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1.  </a:t>
            </a:r>
            <a:pPr algn="l" indent="0" marL="0">
              <a:buNone/>
            </a:pPr>
            <a:r>
              <a:rPr lang="en-US" sz="19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photograph of the right breast showing the lump that had been misdiagnosed as a breast abscess.</a:t>
            </a:r>
            <a:endParaRPr lang="en-US" sz="1900" dirty="0"/>
          </a:p>
        </p:txBody>
      </p:sp>
      <p:sp>
        <p:nvSpPr>
          <p:cNvPr id="46" name="Shape 42"/>
          <p:cNvSpPr/>
          <p:nvPr/>
        </p:nvSpPr>
        <p:spPr>
          <a:xfrm>
            <a:off x="16026264" y="14779018"/>
            <a:ext cx="347472" cy="393192"/>
          </a:xfrm>
          <a:prstGeom prst="downArrow">
            <a:avLst/>
          </a:prstGeom>
          <a:solidFill>
            <a:srgbClr val="2A9D8F"/>
          </a:solidFill>
          <a:ln/>
        </p:spPr>
      </p:sp>
      <p:sp>
        <p:nvSpPr>
          <p:cNvPr id="47" name="Shape 43"/>
          <p:cNvSpPr/>
          <p:nvPr/>
        </p:nvSpPr>
        <p:spPr>
          <a:xfrm>
            <a:off x="9589968" y="15227074"/>
            <a:ext cx="13220064" cy="7450954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48" name="Shape 44"/>
          <p:cNvSpPr/>
          <p:nvPr/>
        </p:nvSpPr>
        <p:spPr>
          <a:xfrm>
            <a:off x="10871833" y="15501394"/>
            <a:ext cx="4248912" cy="4882896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49" name="Image 2" descr="/home/user/career-ops/1-xray-pneumoperitoneum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5841" y="15565402"/>
            <a:ext cx="4120896" cy="4754880"/>
          </a:xfrm>
          <a:prstGeom prst="rect">
            <a:avLst/>
          </a:prstGeom>
        </p:spPr>
      </p:pic>
      <p:sp>
        <p:nvSpPr>
          <p:cNvPr id="50" name="Shape 45"/>
          <p:cNvSpPr/>
          <p:nvPr/>
        </p:nvSpPr>
        <p:spPr>
          <a:xfrm>
            <a:off x="15623665" y="15501394"/>
            <a:ext cx="5904502" cy="4882896"/>
          </a:xfrm>
          <a:prstGeom prst="roundRect">
            <a:avLst>
              <a:gd name="adj" fmla="val 112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51" name="Image 3" descr="/home/user/career-ops/2-ct-abdomen.jpe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87673" y="15565402"/>
            <a:ext cx="5776486" cy="4754880"/>
          </a:xfrm>
          <a:prstGeom prst="rect">
            <a:avLst/>
          </a:prstGeom>
        </p:spPr>
      </p:pic>
      <p:sp>
        <p:nvSpPr>
          <p:cNvPr id="52" name="Text 46"/>
          <p:cNvSpPr/>
          <p:nvPr/>
        </p:nvSpPr>
        <p:spPr>
          <a:xfrm>
            <a:off x="9882576" y="20494018"/>
            <a:ext cx="12634848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2.  </a:t>
            </a:r>
            <a:pPr algn="ctr" indent="0" marL="0">
              <a:buNone/>
            </a:pPr>
            <a:r>
              <a:rPr lang="en-US" sz="19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Erect abdominal radiograph demonstrating pneumoperitoneum.     </a:t>
            </a:r>
            <a:pPr algn="ctr" indent="0" marL="0">
              <a:buNone/>
            </a:pPr>
            <a:r>
              <a:rPr lang="en-US" sz="19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3.  </a:t>
            </a:r>
            <a:pPr algn="ctr" indent="0" marL="0">
              <a:buNone/>
            </a:pPr>
            <a:r>
              <a:rPr lang="en-US" sz="19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Contrast-enhanced CT of the abdomen.</a:t>
            </a:r>
            <a:endParaRPr lang="en-US" sz="1900" dirty="0"/>
          </a:p>
        </p:txBody>
      </p:sp>
      <p:sp>
        <p:nvSpPr>
          <p:cNvPr id="53" name="Shape 47"/>
          <p:cNvSpPr/>
          <p:nvPr/>
        </p:nvSpPr>
        <p:spPr>
          <a:xfrm>
            <a:off x="16026264" y="22732892"/>
            <a:ext cx="347472" cy="393192"/>
          </a:xfrm>
          <a:prstGeom prst="downArrow">
            <a:avLst/>
          </a:prstGeom>
          <a:solidFill>
            <a:srgbClr val="2A9D8F"/>
          </a:solidFill>
          <a:ln/>
        </p:spPr>
      </p:sp>
      <p:sp>
        <p:nvSpPr>
          <p:cNvPr id="54" name="Shape 48"/>
          <p:cNvSpPr/>
          <p:nvPr/>
        </p:nvSpPr>
        <p:spPr>
          <a:xfrm>
            <a:off x="9589968" y="23180948"/>
            <a:ext cx="13220064" cy="7841098"/>
          </a:xfrm>
          <a:prstGeom prst="roundRect">
            <a:avLst>
              <a:gd name="adj" fmla="val 1166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55" name="Shape 49"/>
          <p:cNvSpPr/>
          <p:nvPr/>
        </p:nvSpPr>
        <p:spPr>
          <a:xfrm>
            <a:off x="9882576" y="24065690"/>
            <a:ext cx="3313953" cy="6071616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56" name="Image 4" descr="/home/user/career-ops/5-intraop-perforation.jpe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6584" y="24129698"/>
            <a:ext cx="3185937" cy="5943600"/>
          </a:xfrm>
          <a:prstGeom prst="rect">
            <a:avLst/>
          </a:prstGeom>
        </p:spPr>
      </p:pic>
      <p:sp>
        <p:nvSpPr>
          <p:cNvPr id="57" name="Text 50"/>
          <p:cNvSpPr/>
          <p:nvPr/>
        </p:nvSpPr>
        <p:spPr>
          <a:xfrm>
            <a:off x="13608009" y="23180948"/>
            <a:ext cx="8909415" cy="7841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4.  </a:t>
            </a:r>
            <a:pPr algn="l" indent="0" marL="0">
              <a:buNone/>
            </a:pPr>
            <a:r>
              <a:rPr lang="en-US" sz="19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Intraoperative photograph showing the solitary ileal perforation (≈ 0.5 × 0.5 cm), located 40 cm proximal to the ileocaecal junction.</a:t>
            </a:r>
            <a:endParaRPr lang="en-US" sz="1900" dirty="0"/>
          </a:p>
        </p:txBody>
      </p:sp>
      <p:sp>
        <p:nvSpPr>
          <p:cNvPr id="58" name="Shape 51"/>
          <p:cNvSpPr/>
          <p:nvPr/>
        </p:nvSpPr>
        <p:spPr>
          <a:xfrm>
            <a:off x="16026264" y="31076911"/>
            <a:ext cx="347472" cy="393192"/>
          </a:xfrm>
          <a:prstGeom prst="downArrow">
            <a:avLst/>
          </a:prstGeom>
          <a:solidFill>
            <a:srgbClr val="2A9D8F"/>
          </a:solidFill>
          <a:ln/>
        </p:spPr>
      </p:sp>
      <p:sp>
        <p:nvSpPr>
          <p:cNvPr id="59" name="Shape 52"/>
          <p:cNvSpPr/>
          <p:nvPr/>
        </p:nvSpPr>
        <p:spPr>
          <a:xfrm>
            <a:off x="9589968" y="31524967"/>
            <a:ext cx="13220064" cy="9766313"/>
          </a:xfrm>
          <a:prstGeom prst="roundRect">
            <a:avLst>
              <a:gd name="adj" fmla="val 936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60" name="Shape 53"/>
          <p:cNvSpPr/>
          <p:nvPr/>
        </p:nvSpPr>
        <p:spPr>
          <a:xfrm>
            <a:off x="10184328" y="31799287"/>
            <a:ext cx="12031344" cy="7198255"/>
          </a:xfrm>
          <a:prstGeom prst="roundRect">
            <a:avLst>
              <a:gd name="adj" fmla="val 7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61" name="Image 5" descr="/home/user/career-ops/3-histopath-idc.jpe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8336" y="31863295"/>
            <a:ext cx="11903328" cy="7070239"/>
          </a:xfrm>
          <a:prstGeom prst="rect">
            <a:avLst/>
          </a:prstGeom>
        </p:spPr>
      </p:pic>
      <p:sp>
        <p:nvSpPr>
          <p:cNvPr id="62" name="Text 54"/>
          <p:cNvSpPr/>
          <p:nvPr/>
        </p:nvSpPr>
        <p:spPr>
          <a:xfrm>
            <a:off x="9882576" y="39107270"/>
            <a:ext cx="12634848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5.  </a:t>
            </a:r>
            <a:pPr algn="l" indent="0" marL="0">
              <a:buNone/>
            </a:pPr>
            <a:r>
              <a:rPr lang="en-US" sz="19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Histopathology (H&amp;E) — invasive ductal carcinoma; metastatic deposits demonstrated at the ileal perforation site.</a:t>
            </a:r>
            <a:endParaRPr lang="en-US" sz="1900" dirty="0"/>
          </a:p>
        </p:txBody>
      </p:sp>
      <p:sp>
        <p:nvSpPr>
          <p:cNvPr id="63" name="Shape 55"/>
          <p:cNvSpPr/>
          <p:nvPr/>
        </p:nvSpPr>
        <p:spPr>
          <a:xfrm>
            <a:off x="720000" y="41657040"/>
            <a:ext cx="30960000" cy="822960"/>
          </a:xfrm>
          <a:prstGeom prst="roundRect">
            <a:avLst>
              <a:gd name="adj" fmla="val 8889"/>
            </a:avLst>
          </a:prstGeom>
          <a:solidFill>
            <a:srgbClr val="12355B"/>
          </a:solidFill>
          <a:ln/>
        </p:spPr>
      </p:sp>
      <p:sp>
        <p:nvSpPr>
          <p:cNvPr id="64" name="Text 56"/>
          <p:cNvSpPr/>
          <p:nvPr/>
        </p:nvSpPr>
        <p:spPr>
          <a:xfrm>
            <a:off x="1177200" y="41657040"/>
            <a:ext cx="236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TNASICON 2026</a:t>
            </a:r>
            <a:pPr algn="l" indent="0" marL="0">
              <a:buNone/>
            </a:pPr>
            <a:r>
              <a:rPr lang="en-US" sz="20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49th Annual Conference  ·  Coimbatore, Tamil Nadu  ·  August 6–9, 2026</a:t>
            </a:r>
            <a:endParaRPr lang="en-US" sz="2000" dirty="0"/>
          </a:p>
        </p:txBody>
      </p:sp>
      <p:sp>
        <p:nvSpPr>
          <p:cNvPr id="65" name="Text 57"/>
          <p:cNvSpPr/>
          <p:nvPr/>
        </p:nvSpPr>
        <p:spPr>
          <a:xfrm>
            <a:off x="23907600" y="41657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i="1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Report  ·  Department of General Surgery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2026-07-20T18:24:35Z</dcterms:created>
  <dcterms:modified xsi:type="dcterms:W3CDTF">2026-07-20T18:24:35Z</dcterms:modified>
</cp:coreProperties>
</file>