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2400000" cy="43200000"/>
  <p:notesSz cx="43200000" cy="324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jpeg"/><Relationship Id="rId3" Type="http://schemas.openxmlformats.org/officeDocument/2006/relationships/image" Target="../media/image-1-3.jpeg"/><Relationship Id="rId4" Type="http://schemas.openxmlformats.org/officeDocument/2006/relationships/image" Target="../media/image-1-4.jpeg"/><Relationship Id="rId5" Type="http://schemas.openxmlformats.org/officeDocument/2006/relationships/image" Target="../media/image-1-5.jpeg"/><Relationship Id="rId6" Type="http://schemas.openxmlformats.org/officeDocument/2006/relationships/image" Target="../media/image-1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0000" y="720000"/>
            <a:ext cx="30960000" cy="4617720"/>
          </a:xfrm>
          <a:prstGeom prst="roundRect">
            <a:avLst>
              <a:gd name="adj" fmla="val 2376"/>
            </a:avLst>
          </a:prstGeom>
          <a:solidFill>
            <a:srgbClr val="12355B"/>
          </a:solidFill>
          <a:ln/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26193600" y="1659109"/>
            <a:ext cx="5394960" cy="3013823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4" name="Image 0" descr="/home/user/career-ops/6-tnasicon-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30760" y="1796269"/>
            <a:ext cx="5120640" cy="273950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22920" y="1131480"/>
            <a:ext cx="2465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UNMASKING BREAST CANCER IN THE ACUTE ABDOMEN:</a:t>
            </a:r>
            <a:endParaRPr lang="en-US" sz="4500" dirty="0"/>
          </a:p>
        </p:txBody>
      </p:sp>
      <p:sp>
        <p:nvSpPr>
          <p:cNvPr id="6" name="Text 3"/>
          <p:cNvSpPr/>
          <p:nvPr/>
        </p:nvSpPr>
        <p:spPr>
          <a:xfrm>
            <a:off x="1222920" y="2137320"/>
            <a:ext cx="2995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i="1" dirty="0">
                <a:solidFill>
                  <a:srgbClr val="DCE6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Rare Case of Metastatic Ileal Perforation from Invasive Ductal Carcinoma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1222920" y="3051720"/>
            <a:ext cx="29954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28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 </a:t>
            </a:r>
            <a:pPr algn="l" indent="0" marL="0">
              <a:spcAft>
                <a:spcPts val="9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Alla Varun Reddy</a:t>
            </a:r>
            <a:endParaRPr lang="en-US" sz="28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24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guidance of  </a:t>
            </a:r>
            <a:pPr algn="l" indent="0" marL="0"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&amp; HOD Dr. P. S. Saravanan</a:t>
            </a:r>
            <a:pPr algn="l" indent="0" marL="0">
              <a:spcAft>
                <a:spcPts val="900"/>
              </a:spcAft>
              <a:buNone/>
            </a:pPr>
            <a:r>
              <a:rPr lang="en-US" sz="2400" dirty="0">
                <a:solidFill>
                  <a:srgbClr val="9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</a:t>
            </a:r>
            <a:pPr algn="l" indent="0" marL="0"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Priyan</a:t>
            </a:r>
            <a:endParaRPr lang="en-US" sz="28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2100" i="1" dirty="0">
                <a:solidFill>
                  <a:srgbClr val="9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General Surgery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20000" y="5630328"/>
            <a:ext cx="7465680" cy="1463040"/>
          </a:xfrm>
          <a:prstGeom prst="roundRect">
            <a:avLst>
              <a:gd name="adj" fmla="val 6250"/>
            </a:avLst>
          </a:prstGeom>
          <a:solidFill>
            <a:srgbClr val="EAF5F3"/>
          </a:solidFill>
          <a:ln w="15875">
            <a:solidFill>
              <a:srgbClr val="2A9D8F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20000" y="5776632"/>
            <a:ext cx="7465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4200" dirty="0"/>
          </a:p>
        </p:txBody>
      </p:sp>
      <p:sp>
        <p:nvSpPr>
          <p:cNvPr id="10" name="Text 7"/>
          <p:cNvSpPr/>
          <p:nvPr/>
        </p:nvSpPr>
        <p:spPr>
          <a:xfrm>
            <a:off x="720000" y="6508152"/>
            <a:ext cx="746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year-old woman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8551440" y="5630328"/>
            <a:ext cx="7465680" cy="1463040"/>
          </a:xfrm>
          <a:prstGeom prst="roundRect">
            <a:avLst>
              <a:gd name="adj" fmla="val 6250"/>
            </a:avLst>
          </a:prstGeom>
          <a:solidFill>
            <a:srgbClr val="EAF5F3"/>
          </a:solidFill>
          <a:ln w="15875">
            <a:solidFill>
              <a:srgbClr val="2A9D8F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551440" y="5776632"/>
            <a:ext cx="7465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days</a:t>
            </a:r>
            <a:endParaRPr lang="en-US" sz="4200" dirty="0"/>
          </a:p>
        </p:txBody>
      </p:sp>
      <p:sp>
        <p:nvSpPr>
          <p:cNvPr id="13" name="Text 10"/>
          <p:cNvSpPr/>
          <p:nvPr/>
        </p:nvSpPr>
        <p:spPr>
          <a:xfrm>
            <a:off x="8551440" y="6508152"/>
            <a:ext cx="746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abdominal pain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16382880" y="5630328"/>
            <a:ext cx="7465680" cy="1463040"/>
          </a:xfrm>
          <a:prstGeom prst="roundRect">
            <a:avLst>
              <a:gd name="adj" fmla="val 6250"/>
            </a:avLst>
          </a:prstGeom>
          <a:solidFill>
            <a:srgbClr val="EAF5F3"/>
          </a:solidFill>
          <a:ln w="15875">
            <a:solidFill>
              <a:srgbClr val="2A9D8F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6382880" y="5776632"/>
            <a:ext cx="7465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 × 0.5 cm</a:t>
            </a:r>
            <a:endParaRPr lang="en-US" sz="4200" dirty="0"/>
          </a:p>
        </p:txBody>
      </p:sp>
      <p:sp>
        <p:nvSpPr>
          <p:cNvPr id="16" name="Text 13"/>
          <p:cNvSpPr/>
          <p:nvPr/>
        </p:nvSpPr>
        <p:spPr>
          <a:xfrm>
            <a:off x="16382880" y="6508152"/>
            <a:ext cx="746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solitary ileal perforation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24214320" y="5630328"/>
            <a:ext cx="7465680" cy="1463040"/>
          </a:xfrm>
          <a:prstGeom prst="roundRect">
            <a:avLst>
              <a:gd name="adj" fmla="val 6250"/>
            </a:avLst>
          </a:prstGeom>
          <a:solidFill>
            <a:srgbClr val="EAF5F3"/>
          </a:solidFill>
          <a:ln w="15875">
            <a:solidFill>
              <a:srgbClr val="2A9D8F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24214320" y="5776632"/>
            <a:ext cx="7465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cm</a:t>
            </a:r>
            <a:endParaRPr lang="en-US" sz="4200" dirty="0"/>
          </a:p>
        </p:txBody>
      </p:sp>
      <p:sp>
        <p:nvSpPr>
          <p:cNvPr id="19" name="Text 16"/>
          <p:cNvSpPr/>
          <p:nvPr/>
        </p:nvSpPr>
        <p:spPr>
          <a:xfrm>
            <a:off x="24214320" y="6508152"/>
            <a:ext cx="746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proximal to the IC junction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720000" y="9487248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1" name="Text 18"/>
          <p:cNvSpPr/>
          <p:nvPr/>
        </p:nvSpPr>
        <p:spPr>
          <a:xfrm>
            <a:off x="1213776" y="9377520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3700" dirty="0"/>
          </a:p>
        </p:txBody>
      </p:sp>
      <p:sp>
        <p:nvSpPr>
          <p:cNvPr id="22" name="Text 19"/>
          <p:cNvSpPr/>
          <p:nvPr/>
        </p:nvSpPr>
        <p:spPr>
          <a:xfrm>
            <a:off x="756576" y="10127328"/>
            <a:ext cx="8339616" cy="5279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carcinoma most often metastasises to bone, liver and lung; gastrointestinal spread is rare and arises far more often from lobular than from ductal carcinoma. [1, 2]</a:t>
            </a:r>
            <a:endParaRPr lang="en-US" sz="32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Intestinal metastasis from breast carcinoma is uncommon, and perforation as the initial manifestation is exceedingly rare — only a limited number of cases have been reported. [3, 4]</a:t>
            </a:r>
            <a:endParaRPr lang="en-US" sz="3200" dirty="0"/>
          </a:p>
        </p:txBody>
      </p:sp>
      <p:sp>
        <p:nvSpPr>
          <p:cNvPr id="23" name="Shape 20"/>
          <p:cNvSpPr/>
          <p:nvPr/>
        </p:nvSpPr>
        <p:spPr>
          <a:xfrm>
            <a:off x="720000" y="16960944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4" name="Text 21"/>
          <p:cNvSpPr/>
          <p:nvPr/>
        </p:nvSpPr>
        <p:spPr>
          <a:xfrm>
            <a:off x="1213776" y="16851216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Presentation</a:t>
            </a:r>
            <a:endParaRPr lang="en-US" sz="3700" dirty="0"/>
          </a:p>
        </p:txBody>
      </p:sp>
      <p:sp>
        <p:nvSpPr>
          <p:cNvPr id="25" name="Text 22"/>
          <p:cNvSpPr/>
          <p:nvPr/>
        </p:nvSpPr>
        <p:spPr>
          <a:xfrm>
            <a:off x="756576" y="17601024"/>
            <a:ext cx="8339616" cy="440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38-year-old woman with abdominal pain for two days.</a:t>
            </a:r>
            <a:endParaRPr lang="en-US" sz="32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chronic NSAID abuse for pain related to a right breast lump, which had been misdiagnosed as a breast abscess.</a:t>
            </a:r>
            <a:endParaRPr lang="en-US" sz="32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examination: tachycardic, with generalized abdominal rigidity.</a:t>
            </a:r>
            <a:endParaRPr lang="en-US" sz="3200" dirty="0"/>
          </a:p>
        </p:txBody>
      </p:sp>
      <p:sp>
        <p:nvSpPr>
          <p:cNvPr id="26" name="Shape 23"/>
          <p:cNvSpPr/>
          <p:nvPr/>
        </p:nvSpPr>
        <p:spPr>
          <a:xfrm>
            <a:off x="720000" y="23559864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7" name="Text 24"/>
          <p:cNvSpPr/>
          <p:nvPr/>
        </p:nvSpPr>
        <p:spPr>
          <a:xfrm>
            <a:off x="1213776" y="23450136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700" dirty="0"/>
          </a:p>
        </p:txBody>
      </p:sp>
      <p:sp>
        <p:nvSpPr>
          <p:cNvPr id="28" name="Text 25"/>
          <p:cNvSpPr/>
          <p:nvPr/>
        </p:nvSpPr>
        <p:spPr>
          <a:xfrm>
            <a:off x="756576" y="24199944"/>
            <a:ext cx="8339616" cy="2353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Erect abdominal radiograph demonstrated pneumoperitoneum.</a:t>
            </a:r>
            <a:endParaRPr lang="en-US" sz="32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prompted emergency exploratory laparotomy (see Figs 2–3).</a:t>
            </a:r>
            <a:endParaRPr lang="en-US" sz="3200" dirty="0"/>
          </a:p>
        </p:txBody>
      </p:sp>
      <p:sp>
        <p:nvSpPr>
          <p:cNvPr id="29" name="Shape 26"/>
          <p:cNvSpPr/>
          <p:nvPr/>
        </p:nvSpPr>
        <p:spPr>
          <a:xfrm>
            <a:off x="720000" y="28107480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0" name="Text 27"/>
          <p:cNvSpPr/>
          <p:nvPr/>
        </p:nvSpPr>
        <p:spPr>
          <a:xfrm>
            <a:off x="1213776" y="27997752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700" dirty="0"/>
          </a:p>
        </p:txBody>
      </p:sp>
      <p:sp>
        <p:nvSpPr>
          <p:cNvPr id="31" name="Text 28"/>
          <p:cNvSpPr/>
          <p:nvPr/>
        </p:nvSpPr>
        <p:spPr>
          <a:xfrm>
            <a:off x="756576" y="28747560"/>
            <a:ext cx="8339616" cy="4117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NSAID-induced ulcer perforation</a:t>
            </a:r>
            <a:endParaRPr lang="en-US" sz="32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Infective enteritis (e.g., enteric fever)</a:t>
            </a:r>
            <a:endParaRPr lang="en-US" sz="32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Intestinal tuberculosis</a:t>
            </a:r>
            <a:endParaRPr lang="en-US" sz="32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small-bowel malignancy</a:t>
            </a:r>
            <a:endParaRPr lang="en-US" sz="32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malignancy — confirmed in this case</a:t>
            </a:r>
            <a:endParaRPr lang="en-US" sz="3200" dirty="0"/>
          </a:p>
        </p:txBody>
      </p:sp>
      <p:sp>
        <p:nvSpPr>
          <p:cNvPr id="32" name="Shape 29"/>
          <p:cNvSpPr/>
          <p:nvPr/>
        </p:nvSpPr>
        <p:spPr>
          <a:xfrm>
            <a:off x="720000" y="34419888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3" name="Text 30"/>
          <p:cNvSpPr/>
          <p:nvPr/>
        </p:nvSpPr>
        <p:spPr>
          <a:xfrm>
            <a:off x="1213776" y="34310160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Operative Findings</a:t>
            </a:r>
            <a:endParaRPr lang="en-US" sz="3700" dirty="0"/>
          </a:p>
        </p:txBody>
      </p:sp>
      <p:sp>
        <p:nvSpPr>
          <p:cNvPr id="34" name="Text 31"/>
          <p:cNvSpPr/>
          <p:nvPr/>
        </p:nvSpPr>
        <p:spPr>
          <a:xfrm>
            <a:off x="756576" y="35059968"/>
            <a:ext cx="8339616" cy="440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exploratory laparotomy performed.</a:t>
            </a:r>
            <a:endParaRPr lang="en-US" sz="32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Solitary ileal perforation ≈ 0.5 × 0.5 cm, located 40 cm proximal to the ileocaecal junction.</a:t>
            </a:r>
            <a:endParaRPr lang="en-US" sz="32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closure of the perforation performed after obtaining a biopsy from the perforation margin.</a:t>
            </a:r>
            <a:endParaRPr lang="en-US" sz="3200" dirty="0"/>
          </a:p>
        </p:txBody>
      </p:sp>
      <p:sp>
        <p:nvSpPr>
          <p:cNvPr id="35" name="Shape 32"/>
          <p:cNvSpPr/>
          <p:nvPr/>
        </p:nvSpPr>
        <p:spPr>
          <a:xfrm>
            <a:off x="23267232" y="7568856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6" name="Text 33"/>
          <p:cNvSpPr/>
          <p:nvPr/>
        </p:nvSpPr>
        <p:spPr>
          <a:xfrm>
            <a:off x="23761008" y="7459128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Histopathology</a:t>
            </a:r>
            <a:endParaRPr lang="en-US" sz="3700" dirty="0"/>
          </a:p>
        </p:txBody>
      </p:sp>
      <p:sp>
        <p:nvSpPr>
          <p:cNvPr id="37" name="Text 34"/>
          <p:cNvSpPr/>
          <p:nvPr/>
        </p:nvSpPr>
        <p:spPr>
          <a:xfrm>
            <a:off x="23303808" y="8208936"/>
            <a:ext cx="8339616" cy="537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Trucut biopsy of the breast lump confirmed invasive ductal carcinoma.</a:t>
            </a:r>
            <a:endParaRPr lang="en-US" sz="32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Ileal perforation-margin biopsy demonstrated metastatic deposits at the perforation site.</a:t>
            </a:r>
            <a:endParaRPr lang="en-US" sz="32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origin of intestinal metastases is confirmed on immunohistochemistry — GATA3 (most sensitive), GCDFP-15, mammaglobin and ER; E-cadherin positivity supports ductal type. [5]</a:t>
            </a:r>
            <a:endParaRPr lang="en-US" sz="3200" dirty="0"/>
          </a:p>
        </p:txBody>
      </p:sp>
      <p:sp>
        <p:nvSpPr>
          <p:cNvPr id="38" name="Shape 35"/>
          <p:cNvSpPr/>
          <p:nvPr/>
        </p:nvSpPr>
        <p:spPr>
          <a:xfrm>
            <a:off x="23267232" y="14254711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9" name="Text 36"/>
          <p:cNvSpPr/>
          <p:nvPr/>
        </p:nvSpPr>
        <p:spPr>
          <a:xfrm>
            <a:off x="23761008" y="14144983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3700" dirty="0"/>
          </a:p>
        </p:txBody>
      </p:sp>
      <p:sp>
        <p:nvSpPr>
          <p:cNvPr id="40" name="Text 37"/>
          <p:cNvSpPr/>
          <p:nvPr/>
        </p:nvSpPr>
        <p:spPr>
          <a:xfrm>
            <a:off x="23303808" y="14894791"/>
            <a:ext cx="8339616" cy="791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gastrointestinal tract is an unusual site for breast metastasis; the small bowel is rarer still, and perforation as the initial manifestation is exceptional.</a:t>
            </a:r>
            <a:endParaRPr lang="en-US" sz="32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trap: acute peritonitis overshadows the primary, and the breast lump had been dismissed as an abscess — delaying the true diagnosis.</a:t>
            </a:r>
            <a:endParaRPr lang="en-US" sz="32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acute surgical abdomen may be the first presentation of metastatic malignancy.</a:t>
            </a:r>
            <a:endParaRPr lang="en-US" sz="32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requires emergency surgery followed by evaluation and treatment of the primary breast malignancy.</a:t>
            </a:r>
            <a:endParaRPr lang="en-US" sz="3200" dirty="0"/>
          </a:p>
        </p:txBody>
      </p:sp>
      <p:sp>
        <p:nvSpPr>
          <p:cNvPr id="41" name="Shape 38"/>
          <p:cNvSpPr/>
          <p:nvPr/>
        </p:nvSpPr>
        <p:spPr>
          <a:xfrm>
            <a:off x="23267232" y="23388109"/>
            <a:ext cx="8412768" cy="6761988"/>
          </a:xfrm>
          <a:prstGeom prst="roundRect">
            <a:avLst>
              <a:gd name="adj" fmla="val 1352"/>
            </a:avLst>
          </a:prstGeom>
          <a:solidFill>
            <a:srgbClr val="FBF3DE"/>
          </a:solidFill>
          <a:ln w="25400">
            <a:solidFill>
              <a:srgbClr val="D4A017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23559840" y="23845309"/>
            <a:ext cx="310896" cy="31089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3" name="Text 40"/>
          <p:cNvSpPr/>
          <p:nvPr/>
        </p:nvSpPr>
        <p:spPr>
          <a:xfrm>
            <a:off x="24035328" y="23772157"/>
            <a:ext cx="7352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Case Is Unique</a:t>
            </a:r>
            <a:endParaRPr lang="en-US" sz="3700" dirty="0"/>
          </a:p>
        </p:txBody>
      </p:sp>
      <p:sp>
        <p:nvSpPr>
          <p:cNvPr id="44" name="Text 41"/>
          <p:cNvSpPr/>
          <p:nvPr/>
        </p:nvSpPr>
        <p:spPr>
          <a:xfrm>
            <a:off x="23559840" y="24503677"/>
            <a:ext cx="7827552" cy="537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Ileal perforation was the initial manifestation of previously unrecognised metastatic breast carcinoma.</a:t>
            </a:r>
            <a:endParaRPr lang="en-US" sz="32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Perforation as the first presentation is exceedingly rare, with only a limited number of reported cases.</a:t>
            </a:r>
            <a:endParaRPr lang="en-US" sz="32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that an acute surgical abdomen may be the first presentation of metastatic malignancy.</a:t>
            </a:r>
            <a:endParaRPr lang="en-US" sz="3200" dirty="0"/>
          </a:p>
        </p:txBody>
      </p:sp>
      <p:sp>
        <p:nvSpPr>
          <p:cNvPr id="45" name="Shape 42"/>
          <p:cNvSpPr/>
          <p:nvPr/>
        </p:nvSpPr>
        <p:spPr>
          <a:xfrm>
            <a:off x="23267232" y="30816152"/>
            <a:ext cx="8412768" cy="5578450"/>
          </a:xfrm>
          <a:prstGeom prst="roundRect">
            <a:avLst>
              <a:gd name="adj" fmla="val 1639"/>
            </a:avLst>
          </a:prstGeom>
          <a:solidFill>
            <a:srgbClr val="12355B"/>
          </a:solidFill>
          <a:ln/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23559840" y="31273352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47" name="Text 44"/>
          <p:cNvSpPr/>
          <p:nvPr/>
        </p:nvSpPr>
        <p:spPr>
          <a:xfrm>
            <a:off x="24035328" y="31200200"/>
            <a:ext cx="7352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700" dirty="0"/>
          </a:p>
        </p:txBody>
      </p:sp>
      <p:sp>
        <p:nvSpPr>
          <p:cNvPr id="48" name="Text 45"/>
          <p:cNvSpPr/>
          <p:nvPr/>
        </p:nvSpPr>
        <p:spPr>
          <a:xfrm>
            <a:off x="23559840" y="31931720"/>
            <a:ext cx="7827552" cy="418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Ileal perforation can rarely be the presenting manifestation of metastatic breast carcinoma.</a:t>
            </a:r>
            <a:endParaRPr lang="en-US" sz="32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2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 index of suspicion together with early histopathological confirmation is essential for accurate diagnosis and appropriate management.</a:t>
            </a:r>
            <a:endParaRPr lang="en-US" sz="3200" dirty="0"/>
          </a:p>
        </p:txBody>
      </p:sp>
      <p:sp>
        <p:nvSpPr>
          <p:cNvPr id="49" name="Shape 46"/>
          <p:cNvSpPr/>
          <p:nvPr/>
        </p:nvSpPr>
        <p:spPr>
          <a:xfrm>
            <a:off x="23267232" y="37152096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0" name="Text 47"/>
          <p:cNvSpPr/>
          <p:nvPr/>
        </p:nvSpPr>
        <p:spPr>
          <a:xfrm>
            <a:off x="23761008" y="37042368"/>
            <a:ext cx="791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References</a:t>
            </a:r>
            <a:endParaRPr lang="en-US" sz="3700" dirty="0"/>
          </a:p>
        </p:txBody>
      </p:sp>
      <p:sp>
        <p:nvSpPr>
          <p:cNvPr id="51" name="Text 48"/>
          <p:cNvSpPr/>
          <p:nvPr/>
        </p:nvSpPr>
        <p:spPr>
          <a:xfrm>
            <a:off x="23303808" y="37755600"/>
            <a:ext cx="8339616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McLemore EC, et al. Breast cancer: presentation and intervention in women with gastrointestinal metastasis and carcinomatosis. Ann Surg Oncol. 2005;12(11):886–894.</a:t>
            </a:r>
            <a:endParaRPr lang="en-US" sz="16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Ambroggi M, et al. Metastatic breast cancer to the gastrointestinal tract: report of five cases and review of the literature. Int J Breast Cancer. 2012;2012:439023.</a:t>
            </a:r>
            <a:endParaRPr lang="en-US" sz="16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Li Y, et al. Small intestinal metastatic breast cancer: a case report and literature review. Front Oncol. 2022;12:900832.</a:t>
            </a:r>
            <a:endParaRPr lang="en-US" sz="16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Shen F, et al. Small intestinal metastasis from primary breast cancer: a case report and review of the literature. Front Immunol. 2024;15:1475018.</a:t>
            </a:r>
            <a:endParaRPr lang="en-US" sz="16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6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Gown AM. Markers of metastatic carcinoma of breast origin. Histopathology. 2016;68(1):86–95.</a:t>
            </a:r>
            <a:endParaRPr lang="en-US" sz="1600" dirty="0"/>
          </a:p>
        </p:txBody>
      </p:sp>
      <p:sp>
        <p:nvSpPr>
          <p:cNvPr id="52" name="Shape 49"/>
          <p:cNvSpPr/>
          <p:nvPr/>
        </p:nvSpPr>
        <p:spPr>
          <a:xfrm>
            <a:off x="9589968" y="7550568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3" name="Text 50"/>
          <p:cNvSpPr/>
          <p:nvPr/>
        </p:nvSpPr>
        <p:spPr>
          <a:xfrm>
            <a:off x="10047168" y="7477416"/>
            <a:ext cx="12762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&amp; Diagnostic Sequence</a:t>
            </a:r>
            <a:endParaRPr lang="en-US" sz="3700" dirty="0"/>
          </a:p>
        </p:txBody>
      </p:sp>
      <p:sp>
        <p:nvSpPr>
          <p:cNvPr id="54" name="Shape 51"/>
          <p:cNvSpPr/>
          <p:nvPr/>
        </p:nvSpPr>
        <p:spPr>
          <a:xfrm>
            <a:off x="9589968" y="8318664"/>
            <a:ext cx="13220064" cy="7914315"/>
          </a:xfrm>
          <a:prstGeom prst="roundRect">
            <a:avLst>
              <a:gd name="adj" fmla="val 1155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13157603" y="8592984"/>
            <a:ext cx="6084794" cy="6437376"/>
          </a:xfrm>
          <a:prstGeom prst="roundRect">
            <a:avLst>
              <a:gd name="adj" fmla="val 90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56" name="Image 1" descr="/home/user/career-ops/4-breast-lump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1611" y="8656992"/>
            <a:ext cx="5956778" cy="6309360"/>
          </a:xfrm>
          <a:prstGeom prst="rect">
            <a:avLst/>
          </a:prstGeom>
        </p:spPr>
      </p:pic>
      <p:sp>
        <p:nvSpPr>
          <p:cNvPr id="57" name="Shape 53"/>
          <p:cNvSpPr/>
          <p:nvPr/>
        </p:nvSpPr>
        <p:spPr>
          <a:xfrm>
            <a:off x="13047875" y="8483256"/>
            <a:ext cx="566928" cy="56692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58" name="Text 54"/>
          <p:cNvSpPr/>
          <p:nvPr/>
        </p:nvSpPr>
        <p:spPr>
          <a:xfrm>
            <a:off x="13047875" y="8483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59" name="Text 55"/>
          <p:cNvSpPr/>
          <p:nvPr/>
        </p:nvSpPr>
        <p:spPr>
          <a:xfrm>
            <a:off x="9882576" y="15140088"/>
            <a:ext cx="12634848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1.  </a:t>
            </a:r>
            <a:pPr algn="l" indent="0" marL="0">
              <a:buNone/>
            </a:pPr>
            <a:r>
              <a:rPr lang="en-US" sz="20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photograph of the right breast showing the lump that had been misdiagnosed as a breast abscess.</a:t>
            </a:r>
            <a:endParaRPr lang="en-US" sz="2000" dirty="0"/>
          </a:p>
        </p:txBody>
      </p:sp>
      <p:sp>
        <p:nvSpPr>
          <p:cNvPr id="60" name="Shape 56"/>
          <p:cNvSpPr/>
          <p:nvPr/>
        </p:nvSpPr>
        <p:spPr>
          <a:xfrm>
            <a:off x="16026264" y="16287843"/>
            <a:ext cx="347472" cy="393192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61" name="Shape 57"/>
          <p:cNvSpPr/>
          <p:nvPr/>
        </p:nvSpPr>
        <p:spPr>
          <a:xfrm>
            <a:off x="9589968" y="16735899"/>
            <a:ext cx="13220064" cy="6359835"/>
          </a:xfrm>
          <a:prstGeom prst="roundRect">
            <a:avLst>
              <a:gd name="adj" fmla="val 1438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62" name="Shape 58"/>
          <p:cNvSpPr/>
          <p:nvPr/>
        </p:nvSpPr>
        <p:spPr>
          <a:xfrm>
            <a:off x="10871833" y="17010219"/>
            <a:ext cx="4248912" cy="4882896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63" name="Image 2" descr="/home/user/career-ops/1-xray-pneumoperitoneum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5841" y="17074227"/>
            <a:ext cx="4120896" cy="4754880"/>
          </a:xfrm>
          <a:prstGeom prst="rect">
            <a:avLst/>
          </a:prstGeom>
        </p:spPr>
      </p:pic>
      <p:sp>
        <p:nvSpPr>
          <p:cNvPr id="64" name="Shape 59"/>
          <p:cNvSpPr/>
          <p:nvPr/>
        </p:nvSpPr>
        <p:spPr>
          <a:xfrm>
            <a:off x="10762105" y="16900491"/>
            <a:ext cx="566928" cy="56692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65" name="Text 60"/>
          <p:cNvSpPr/>
          <p:nvPr/>
        </p:nvSpPr>
        <p:spPr>
          <a:xfrm>
            <a:off x="10762105" y="16900491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66" name="Shape 61"/>
          <p:cNvSpPr/>
          <p:nvPr/>
        </p:nvSpPr>
        <p:spPr>
          <a:xfrm>
            <a:off x="15623665" y="17010219"/>
            <a:ext cx="5904502" cy="4882896"/>
          </a:xfrm>
          <a:prstGeom prst="roundRect">
            <a:avLst>
              <a:gd name="adj" fmla="val 112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67" name="Image 3" descr="/home/user/career-ops/2-ct-abdomen.jp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87673" y="17074227"/>
            <a:ext cx="5776486" cy="4754880"/>
          </a:xfrm>
          <a:prstGeom prst="rect">
            <a:avLst/>
          </a:prstGeom>
        </p:spPr>
      </p:pic>
      <p:sp>
        <p:nvSpPr>
          <p:cNvPr id="68" name="Shape 62"/>
          <p:cNvSpPr/>
          <p:nvPr/>
        </p:nvSpPr>
        <p:spPr>
          <a:xfrm>
            <a:off x="15513937" y="16900491"/>
            <a:ext cx="566928" cy="56692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69" name="Text 63"/>
          <p:cNvSpPr/>
          <p:nvPr/>
        </p:nvSpPr>
        <p:spPr>
          <a:xfrm>
            <a:off x="15513937" y="16900491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70" name="Text 64"/>
          <p:cNvSpPr/>
          <p:nvPr/>
        </p:nvSpPr>
        <p:spPr>
          <a:xfrm>
            <a:off x="9882576" y="22002843"/>
            <a:ext cx="12634848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2.  </a:t>
            </a:r>
            <a:pPr algn="ctr" indent="0" marL="0">
              <a:buNone/>
            </a:pPr>
            <a:r>
              <a:rPr lang="en-US" sz="20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Erect abdominal radiograph demonstrating pneumoperitoneum.     </a:t>
            </a:r>
            <a:pPr algn="ctr" indent="0" marL="0">
              <a:buNone/>
            </a:pPr>
            <a:r>
              <a:rPr lang="en-US" sz="20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3.  </a:t>
            </a:r>
            <a:pPr algn="ctr" indent="0" marL="0">
              <a:buNone/>
            </a:pPr>
            <a:r>
              <a:rPr lang="en-US" sz="20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Contrast-enhanced CT of the abdomen.  </a:t>
            </a:r>
            <a:pPr algn="ctr" indent="0" marL="0">
              <a:buNone/>
            </a:pPr>
            <a:r>
              <a:rPr lang="en-US" sz="20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[Additional Information: CT findings]</a:t>
            </a:r>
            <a:endParaRPr lang="en-US" sz="2000" dirty="0"/>
          </a:p>
        </p:txBody>
      </p:sp>
      <p:sp>
        <p:nvSpPr>
          <p:cNvPr id="71" name="Shape 65"/>
          <p:cNvSpPr/>
          <p:nvPr/>
        </p:nvSpPr>
        <p:spPr>
          <a:xfrm>
            <a:off x="16026264" y="23150598"/>
            <a:ext cx="347472" cy="393192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72" name="Shape 66"/>
          <p:cNvSpPr/>
          <p:nvPr/>
        </p:nvSpPr>
        <p:spPr>
          <a:xfrm>
            <a:off x="9589968" y="23598654"/>
            <a:ext cx="13220064" cy="8188635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73" name="Shape 67"/>
          <p:cNvSpPr/>
          <p:nvPr/>
        </p:nvSpPr>
        <p:spPr>
          <a:xfrm>
            <a:off x="14371473" y="23872974"/>
            <a:ext cx="3657054" cy="6711696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74" name="Image 4" descr="/home/user/career-ops/5-intraop-perforation.jpe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35481" y="23936982"/>
            <a:ext cx="3529038" cy="6583680"/>
          </a:xfrm>
          <a:prstGeom prst="rect">
            <a:avLst/>
          </a:prstGeom>
        </p:spPr>
      </p:pic>
      <p:sp>
        <p:nvSpPr>
          <p:cNvPr id="75" name="Shape 68"/>
          <p:cNvSpPr/>
          <p:nvPr/>
        </p:nvSpPr>
        <p:spPr>
          <a:xfrm>
            <a:off x="14261745" y="23763246"/>
            <a:ext cx="566928" cy="56692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76" name="Text 69"/>
          <p:cNvSpPr/>
          <p:nvPr/>
        </p:nvSpPr>
        <p:spPr>
          <a:xfrm>
            <a:off x="14261745" y="2376324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77" name="Text 70"/>
          <p:cNvSpPr/>
          <p:nvPr/>
        </p:nvSpPr>
        <p:spPr>
          <a:xfrm>
            <a:off x="9882576" y="30694398"/>
            <a:ext cx="12634848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4.  </a:t>
            </a:r>
            <a:pPr algn="l" indent="0" marL="0">
              <a:buNone/>
            </a:pPr>
            <a:r>
              <a:rPr lang="en-US" sz="20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Intraoperative photograph showing the solitary ileal perforation (≈ 0.5 × 0.5 cm), located 40 cm proximal to the ileocaecal junction.</a:t>
            </a:r>
            <a:endParaRPr lang="en-US" sz="2000" dirty="0"/>
          </a:p>
        </p:txBody>
      </p:sp>
      <p:sp>
        <p:nvSpPr>
          <p:cNvPr id="78" name="Shape 71"/>
          <p:cNvSpPr/>
          <p:nvPr/>
        </p:nvSpPr>
        <p:spPr>
          <a:xfrm>
            <a:off x="16026264" y="31842153"/>
            <a:ext cx="347472" cy="393192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79" name="Shape 72"/>
          <p:cNvSpPr/>
          <p:nvPr/>
        </p:nvSpPr>
        <p:spPr>
          <a:xfrm>
            <a:off x="9589968" y="32290209"/>
            <a:ext cx="13220064" cy="9001071"/>
          </a:xfrm>
          <a:prstGeom prst="roundRect">
            <a:avLst>
              <a:gd name="adj" fmla="val 1016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80" name="Shape 73"/>
          <p:cNvSpPr/>
          <p:nvPr/>
        </p:nvSpPr>
        <p:spPr>
          <a:xfrm>
            <a:off x="9910008" y="32564529"/>
            <a:ext cx="12579984" cy="7524132"/>
          </a:xfrm>
          <a:prstGeom prst="roundRect">
            <a:avLst>
              <a:gd name="adj" fmla="val 7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81" name="Image 5" descr="/home/user/career-ops/3-histopath-idc.jpe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74016" y="32628537"/>
            <a:ext cx="12451968" cy="7396116"/>
          </a:xfrm>
          <a:prstGeom prst="rect">
            <a:avLst/>
          </a:prstGeom>
        </p:spPr>
      </p:pic>
      <p:sp>
        <p:nvSpPr>
          <p:cNvPr id="82" name="Shape 74"/>
          <p:cNvSpPr/>
          <p:nvPr/>
        </p:nvSpPr>
        <p:spPr>
          <a:xfrm>
            <a:off x="9800280" y="32454801"/>
            <a:ext cx="566928" cy="56692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83" name="Text 75"/>
          <p:cNvSpPr/>
          <p:nvPr/>
        </p:nvSpPr>
        <p:spPr>
          <a:xfrm>
            <a:off x="9800280" y="32454801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84" name="Text 76"/>
          <p:cNvSpPr/>
          <p:nvPr/>
        </p:nvSpPr>
        <p:spPr>
          <a:xfrm>
            <a:off x="9882576" y="40198389"/>
            <a:ext cx="12634848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5.  </a:t>
            </a:r>
            <a:pPr algn="l" indent="0" marL="0">
              <a:buNone/>
            </a:pPr>
            <a:r>
              <a:rPr lang="en-US" sz="20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Histopathology (H&amp;E) — invasive ductal carcinoma; metastatic deposits demonstrated at the ileal perforation site.</a:t>
            </a:r>
            <a:endParaRPr lang="en-US" sz="2000" dirty="0"/>
          </a:p>
        </p:txBody>
      </p:sp>
      <p:sp>
        <p:nvSpPr>
          <p:cNvPr id="85" name="Shape 77"/>
          <p:cNvSpPr/>
          <p:nvPr/>
        </p:nvSpPr>
        <p:spPr>
          <a:xfrm>
            <a:off x="720000" y="41657040"/>
            <a:ext cx="30960000" cy="822960"/>
          </a:xfrm>
          <a:prstGeom prst="roundRect">
            <a:avLst>
              <a:gd name="adj" fmla="val 8889"/>
            </a:avLst>
          </a:prstGeom>
          <a:solidFill>
            <a:srgbClr val="12355B"/>
          </a:solidFill>
          <a:ln/>
        </p:spPr>
      </p:sp>
      <p:sp>
        <p:nvSpPr>
          <p:cNvPr id="86" name="Text 78"/>
          <p:cNvSpPr/>
          <p:nvPr/>
        </p:nvSpPr>
        <p:spPr>
          <a:xfrm>
            <a:off x="1177200" y="41657040"/>
            <a:ext cx="236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TNASICON 2026</a:t>
            </a:r>
            <a:pPr algn="l" indent="0" marL="0">
              <a:buNone/>
            </a:pPr>
            <a:r>
              <a:rPr lang="en-US" sz="20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49th Annual Conference  ·  Coimbatore, Tamil Nadu  ·  August 6–9, 2026</a:t>
            </a:r>
            <a:endParaRPr lang="en-US" sz="2000" dirty="0"/>
          </a:p>
        </p:txBody>
      </p:sp>
      <p:sp>
        <p:nvSpPr>
          <p:cNvPr id="87" name="Text 79"/>
          <p:cNvSpPr/>
          <p:nvPr/>
        </p:nvSpPr>
        <p:spPr>
          <a:xfrm>
            <a:off x="23907600" y="41657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Report  ·  Department of General Surgery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2026-07-24T08:03:47Z</dcterms:created>
  <dcterms:modified xsi:type="dcterms:W3CDTF">2026-07-24T08:03:47Z</dcterms:modified>
</cp:coreProperties>
</file>