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400000" cy="43200000"/>
  <p:notesSz cx="43200000" cy="324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0000" y="720000"/>
            <a:ext cx="30960000" cy="5212080"/>
          </a:xfrm>
          <a:prstGeom prst="roundRect">
            <a:avLst>
              <a:gd name="adj" fmla="val 2105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6193600" y="1012608"/>
            <a:ext cx="5394960" cy="3013823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" name="Image 0" descr="/home/user/career-ops/6-tnasicon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30760" y="1149768"/>
            <a:ext cx="5120640" cy="27395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2920" y="1131480"/>
            <a:ext cx="2465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UNMASKING BREAST CANCER IN THE ACUTE ABDOMEN: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1222920" y="2137320"/>
            <a:ext cx="2995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i="1" dirty="0">
                <a:solidFill>
                  <a:srgbClr val="DCE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Rare Case of Metastatic Ileal Perforation from Invasive Ductal Carcinoma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1222920" y="3051720"/>
            <a:ext cx="29954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8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pPr algn="l" indent="0" marL="0">
              <a:spcAft>
                <a:spcPts val="9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Alla Varun Reddy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&amp; HOD Dr. P. S. Saravanan</a:t>
            </a:r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Priyan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100" i="1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General Surgery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20000" y="1198508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6"/>
          <p:cNvSpPr/>
          <p:nvPr/>
        </p:nvSpPr>
        <p:spPr>
          <a:xfrm>
            <a:off x="1213776" y="11875356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56576" y="12625164"/>
            <a:ext cx="8339616" cy="5129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initial manifestation is exceedingly rare.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acute surgical abdomen may represent the first presentation of metastatic malignancy.</a:t>
            </a:r>
            <a:endParaRPr lang="en-US" sz="3300" dirty="0"/>
          </a:p>
        </p:txBody>
      </p:sp>
      <p:sp>
        <p:nvSpPr>
          <p:cNvPr id="11" name="Shape 8"/>
          <p:cNvSpPr/>
          <p:nvPr/>
        </p:nvSpPr>
        <p:spPr>
          <a:xfrm>
            <a:off x="720000" y="1930942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9"/>
          <p:cNvSpPr/>
          <p:nvPr/>
        </p:nvSpPr>
        <p:spPr>
          <a:xfrm>
            <a:off x="1213776" y="1919970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Presentation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756576" y="19949508"/>
            <a:ext cx="8339616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38-year-old woman with abdominal pain for two days.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chronic NSAID abuse for pain related to a right breast lump, which had been misdiagnosed as a breast abscess.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examination: tachycardic, with generalized abdominal rigidity.</a:t>
            </a:r>
            <a:endParaRPr lang="en-US" sz="3300" dirty="0"/>
          </a:p>
        </p:txBody>
      </p:sp>
      <p:sp>
        <p:nvSpPr>
          <p:cNvPr id="14" name="Shape 11"/>
          <p:cNvSpPr/>
          <p:nvPr/>
        </p:nvSpPr>
        <p:spPr>
          <a:xfrm>
            <a:off x="720000" y="2603026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1213776" y="2592054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756576" y="26670348"/>
            <a:ext cx="83396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demonstrated pneumoperitoneum.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prompted emergency exploratory laparotomy (see Figs 2–3).</a:t>
            </a:r>
            <a:endParaRPr lang="en-US" sz="3300" dirty="0"/>
          </a:p>
        </p:txBody>
      </p:sp>
      <p:sp>
        <p:nvSpPr>
          <p:cNvPr id="17" name="Shape 14"/>
          <p:cNvSpPr/>
          <p:nvPr/>
        </p:nvSpPr>
        <p:spPr>
          <a:xfrm>
            <a:off x="720000" y="3063884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" name="Text 15"/>
          <p:cNvSpPr/>
          <p:nvPr/>
        </p:nvSpPr>
        <p:spPr>
          <a:xfrm>
            <a:off x="1213776" y="30529116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Operative Findings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756576" y="31278924"/>
            <a:ext cx="8339616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exploratory laparotomy performed.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 ≈ 0.5 × 0.5 cm, located 40 cm proximal to the ileocaecal junction.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closure of the perforation performed after obtaining a biopsy from the perforation margin.</a:t>
            </a:r>
            <a:endParaRPr lang="en-US" sz="3300" dirty="0"/>
          </a:p>
        </p:txBody>
      </p:sp>
      <p:sp>
        <p:nvSpPr>
          <p:cNvPr id="20" name="Shape 17"/>
          <p:cNvSpPr/>
          <p:nvPr/>
        </p:nvSpPr>
        <p:spPr>
          <a:xfrm>
            <a:off x="23267232" y="8771059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8"/>
          <p:cNvSpPr/>
          <p:nvPr/>
        </p:nvSpPr>
        <p:spPr>
          <a:xfrm>
            <a:off x="23761008" y="8661331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23303808" y="9411139"/>
            <a:ext cx="8339616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Trucut biopsy of the breast lump confirmed invasive ductal carcinoma.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of the ileal biopsy demonstrated metastatic deposits at the perforation site.</a:t>
            </a:r>
            <a:endParaRPr lang="en-US" sz="3300" dirty="0"/>
          </a:p>
        </p:txBody>
      </p:sp>
      <p:sp>
        <p:nvSpPr>
          <p:cNvPr id="23" name="Shape 20"/>
          <p:cNvSpPr/>
          <p:nvPr/>
        </p:nvSpPr>
        <p:spPr>
          <a:xfrm>
            <a:off x="23267232" y="13882555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4" name="Text 21"/>
          <p:cNvSpPr/>
          <p:nvPr/>
        </p:nvSpPr>
        <p:spPr>
          <a:xfrm>
            <a:off x="23761008" y="13772827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600" dirty="0"/>
          </a:p>
        </p:txBody>
      </p:sp>
      <p:sp>
        <p:nvSpPr>
          <p:cNvPr id="25" name="Text 22"/>
          <p:cNvSpPr/>
          <p:nvPr/>
        </p:nvSpPr>
        <p:spPr>
          <a:xfrm>
            <a:off x="23303808" y="14522635"/>
            <a:ext cx="8339616" cy="7141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uncommon, and perforation as the initial manifestation is exceedingly rare.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case highlights that an acute surgical abdomen may represent the first presentation of metastatic malignancy.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requires emergency surgery followed by evaluation of the primary breast malignancy.</a:t>
            </a:r>
            <a:endParaRPr lang="en-US" sz="3300" dirty="0"/>
          </a:p>
        </p:txBody>
      </p:sp>
      <p:sp>
        <p:nvSpPr>
          <p:cNvPr id="26" name="Shape 23"/>
          <p:cNvSpPr/>
          <p:nvPr/>
        </p:nvSpPr>
        <p:spPr>
          <a:xfrm>
            <a:off x="23267232" y="23127139"/>
            <a:ext cx="8412768" cy="7798003"/>
          </a:xfrm>
          <a:prstGeom prst="roundRect">
            <a:avLst>
              <a:gd name="adj" fmla="val 1173"/>
            </a:avLst>
          </a:prstGeom>
          <a:solidFill>
            <a:srgbClr val="FBF3DE"/>
          </a:solidFill>
          <a:ln w="25400">
            <a:solidFill>
              <a:srgbClr val="D4A017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23559840" y="23721499"/>
            <a:ext cx="310896" cy="31089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8" name="Text 25"/>
          <p:cNvSpPr/>
          <p:nvPr/>
        </p:nvSpPr>
        <p:spPr>
          <a:xfrm>
            <a:off x="24035328" y="23648347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Case Is Unique</a:t>
            </a:r>
            <a:endParaRPr lang="en-US" sz="3600" dirty="0"/>
          </a:p>
        </p:txBody>
      </p:sp>
      <p:sp>
        <p:nvSpPr>
          <p:cNvPr id="29" name="Text 26"/>
          <p:cNvSpPr/>
          <p:nvPr/>
        </p:nvSpPr>
        <p:spPr>
          <a:xfrm>
            <a:off x="23559840" y="24379867"/>
            <a:ext cx="7827552" cy="6115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was the initial manifestation of previously unrecognised metastatic breast carcinoma.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first presentation is exceedingly rare, with only a limited number of reported cases.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an acute surgical abdomen may be the first presentation of metastatic malignancy.</a:t>
            </a:r>
            <a:endParaRPr lang="en-US" sz="3300" dirty="0"/>
          </a:p>
        </p:txBody>
      </p:sp>
      <p:sp>
        <p:nvSpPr>
          <p:cNvPr id="30" name="Shape 27"/>
          <p:cNvSpPr/>
          <p:nvPr/>
        </p:nvSpPr>
        <p:spPr>
          <a:xfrm>
            <a:off x="23267232" y="32479623"/>
            <a:ext cx="8412768" cy="6448166"/>
          </a:xfrm>
          <a:prstGeom prst="roundRect">
            <a:avLst>
              <a:gd name="adj" fmla="val 1418"/>
            </a:avLst>
          </a:prstGeom>
          <a:solidFill>
            <a:srgbClr val="12355B"/>
          </a:solidFill>
          <a:ln/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23559840" y="33073983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2" name="Text 29"/>
          <p:cNvSpPr/>
          <p:nvPr/>
        </p:nvSpPr>
        <p:spPr>
          <a:xfrm>
            <a:off x="24035328" y="33000831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33" name="Text 30"/>
          <p:cNvSpPr/>
          <p:nvPr/>
        </p:nvSpPr>
        <p:spPr>
          <a:xfrm>
            <a:off x="23559840" y="33732351"/>
            <a:ext cx="7827552" cy="4765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can rarely be the presenting manifestation of metastatic breast carcinoma.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index of suspicion together with early histopathological confirmation is essential for accurate diagnosis and appropriate management.</a:t>
            </a:r>
            <a:endParaRPr lang="en-US" sz="3300" dirty="0"/>
          </a:p>
        </p:txBody>
      </p:sp>
      <p:sp>
        <p:nvSpPr>
          <p:cNvPr id="34" name="Shape 31"/>
          <p:cNvSpPr/>
          <p:nvPr/>
        </p:nvSpPr>
        <p:spPr>
          <a:xfrm>
            <a:off x="9589968" y="638928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5" name="Text 32"/>
          <p:cNvSpPr/>
          <p:nvPr/>
        </p:nvSpPr>
        <p:spPr>
          <a:xfrm>
            <a:off x="10047168" y="6316128"/>
            <a:ext cx="12762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&amp; Diagnostic Sequence</a:t>
            </a:r>
            <a:endParaRPr lang="en-US" sz="3600" dirty="0"/>
          </a:p>
        </p:txBody>
      </p:sp>
      <p:sp>
        <p:nvSpPr>
          <p:cNvPr id="36" name="Shape 33"/>
          <p:cNvSpPr/>
          <p:nvPr/>
        </p:nvSpPr>
        <p:spPr>
          <a:xfrm>
            <a:off x="9589968" y="7157376"/>
            <a:ext cx="13220064" cy="7566778"/>
          </a:xfrm>
          <a:prstGeom prst="roundRect">
            <a:avLst>
              <a:gd name="adj" fmla="val 1208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9882576" y="8042117"/>
            <a:ext cx="5480483" cy="5797296"/>
          </a:xfrm>
          <a:prstGeom prst="roundRect">
            <a:avLst>
              <a:gd name="adj" fmla="val 100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38" name="Image 1" descr="/home/user/career-ops/4-breast-lum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6584" y="8106125"/>
            <a:ext cx="5352467" cy="5669280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5774539" y="7157376"/>
            <a:ext cx="6742885" cy="7566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1.  </a:t>
            </a:r>
            <a:pPr algn="l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photograph of the right breast showing the lump that had been misdiagnosed as a breast abscess.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16026264" y="14779018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41" name="Shape 37"/>
          <p:cNvSpPr/>
          <p:nvPr/>
        </p:nvSpPr>
        <p:spPr>
          <a:xfrm>
            <a:off x="9589968" y="15227074"/>
            <a:ext cx="13220064" cy="7450954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10871833" y="15501394"/>
            <a:ext cx="4248912" cy="4882896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3" name="Image 2" descr="/home/user/career-ops/1-xray-pneumoperitoneu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5841" y="15565402"/>
            <a:ext cx="4120896" cy="475488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15623665" y="15501394"/>
            <a:ext cx="5904502" cy="4882896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5" name="Image 3" descr="/home/user/career-ops/2-ct-abdomen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7673" y="15565402"/>
            <a:ext cx="5776486" cy="475488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9882576" y="20494018"/>
            <a:ext cx="1263484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2.  </a:t>
            </a:r>
            <a:pPr algn="ctr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demonstrating pneumoperitoneum.     </a:t>
            </a:r>
            <a:pPr algn="ctr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3.  </a:t>
            </a:r>
            <a:pPr algn="ctr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CT of the abdomen.  </a:t>
            </a:r>
            <a:pPr algn="ctr" indent="0" marL="0">
              <a:buNone/>
            </a:pPr>
            <a:r>
              <a:rPr lang="en-US" sz="19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[Additional Information: CT findings]</a:t>
            </a:r>
            <a:endParaRPr lang="en-US" sz="1900" dirty="0"/>
          </a:p>
        </p:txBody>
      </p:sp>
      <p:sp>
        <p:nvSpPr>
          <p:cNvPr id="47" name="Shape 41"/>
          <p:cNvSpPr/>
          <p:nvPr/>
        </p:nvSpPr>
        <p:spPr>
          <a:xfrm>
            <a:off x="16026264" y="22732892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48" name="Shape 42"/>
          <p:cNvSpPr/>
          <p:nvPr/>
        </p:nvSpPr>
        <p:spPr>
          <a:xfrm>
            <a:off x="9589968" y="23180948"/>
            <a:ext cx="13220064" cy="7841098"/>
          </a:xfrm>
          <a:prstGeom prst="roundRect">
            <a:avLst>
              <a:gd name="adj" fmla="val 1166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9" name="Shape 43"/>
          <p:cNvSpPr/>
          <p:nvPr/>
        </p:nvSpPr>
        <p:spPr>
          <a:xfrm>
            <a:off x="9882576" y="24065690"/>
            <a:ext cx="3313953" cy="6071616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0" name="Image 4" descr="/home/user/career-ops/5-intraop-perforation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584" y="24129698"/>
            <a:ext cx="3185937" cy="5943600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13608009" y="23180948"/>
            <a:ext cx="8909415" cy="7841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4.  </a:t>
            </a:r>
            <a:pPr algn="l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photograph showing the solitary ileal perforation (≈ 0.5 × 0.5 cm), located 40 cm proximal to the ileocaecal junction.</a:t>
            </a:r>
            <a:endParaRPr lang="en-US" sz="1900" dirty="0"/>
          </a:p>
        </p:txBody>
      </p:sp>
      <p:sp>
        <p:nvSpPr>
          <p:cNvPr id="52" name="Shape 45"/>
          <p:cNvSpPr/>
          <p:nvPr/>
        </p:nvSpPr>
        <p:spPr>
          <a:xfrm>
            <a:off x="16026264" y="31076911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53" name="Shape 46"/>
          <p:cNvSpPr/>
          <p:nvPr/>
        </p:nvSpPr>
        <p:spPr>
          <a:xfrm>
            <a:off x="9589968" y="31524967"/>
            <a:ext cx="13220064" cy="9766313"/>
          </a:xfrm>
          <a:prstGeom prst="roundRect">
            <a:avLst>
              <a:gd name="adj" fmla="val 936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54" name="Shape 47"/>
          <p:cNvSpPr/>
          <p:nvPr/>
        </p:nvSpPr>
        <p:spPr>
          <a:xfrm>
            <a:off x="10184328" y="31799287"/>
            <a:ext cx="12031344" cy="7198255"/>
          </a:xfrm>
          <a:prstGeom prst="roundRect">
            <a:avLst>
              <a:gd name="adj" fmla="val 7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5" name="Image 5" descr="/home/user/career-ops/3-histopath-idc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8336" y="31863295"/>
            <a:ext cx="11903328" cy="7070239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9882576" y="39107270"/>
            <a:ext cx="1263484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5.  </a:t>
            </a:r>
            <a:pPr algn="l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(H&amp;E) — invasive ductal carcinoma; metastatic deposits demonstrated at the ileal perforation site.</a:t>
            </a:r>
            <a:endParaRPr lang="en-US" sz="1900" dirty="0"/>
          </a:p>
        </p:txBody>
      </p:sp>
      <p:sp>
        <p:nvSpPr>
          <p:cNvPr id="57" name="Shape 49"/>
          <p:cNvSpPr/>
          <p:nvPr/>
        </p:nvSpPr>
        <p:spPr>
          <a:xfrm>
            <a:off x="720000" y="41657040"/>
            <a:ext cx="30960000" cy="822960"/>
          </a:xfrm>
          <a:prstGeom prst="roundRect">
            <a:avLst>
              <a:gd name="adj" fmla="val 8889"/>
            </a:avLst>
          </a:prstGeom>
          <a:solidFill>
            <a:srgbClr val="12355B"/>
          </a:solidFill>
          <a:ln/>
        </p:spPr>
      </p:sp>
      <p:sp>
        <p:nvSpPr>
          <p:cNvPr id="58" name="Text 50"/>
          <p:cNvSpPr/>
          <p:nvPr/>
        </p:nvSpPr>
        <p:spPr>
          <a:xfrm>
            <a:off x="1177200" y="41657040"/>
            <a:ext cx="236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TNASICON 2026</a:t>
            </a:r>
            <a:pPr algn="l" indent="0" marL="0">
              <a:buNone/>
            </a:pPr>
            <a:r>
              <a:rPr lang="en-US" sz="20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49th Annual Conference  ·  Coimbatore, Tamil Nadu  ·  August 6–9, 2026</a:t>
            </a:r>
            <a:endParaRPr lang="en-US" sz="2000" dirty="0"/>
          </a:p>
        </p:txBody>
      </p:sp>
      <p:sp>
        <p:nvSpPr>
          <p:cNvPr id="59" name="Text 51"/>
          <p:cNvSpPr/>
          <p:nvPr/>
        </p:nvSpPr>
        <p:spPr>
          <a:xfrm>
            <a:off x="23907600" y="41657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Report  ·  Department of General Surgery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2026-07-20T22:44:31Z</dcterms:created>
  <dcterms:modified xsi:type="dcterms:W3CDTF">2026-07-20T22:44:31Z</dcterms:modified>
</cp:coreProperties>
</file>