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2400000" cy="43200000"/>
  <p:notesSz cx="43200000" cy="324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jpeg"/><Relationship Id="rId3" Type="http://schemas.openxmlformats.org/officeDocument/2006/relationships/image" Target="../media/image-1-3.jpeg"/><Relationship Id="rId4" Type="http://schemas.openxmlformats.org/officeDocument/2006/relationships/image" Target="../media/image-1-4.jpeg"/><Relationship Id="rId5" Type="http://schemas.openxmlformats.org/officeDocument/2006/relationships/image" Target="../media/image-1-5.jpeg"/><Relationship Id="rId6" Type="http://schemas.openxmlformats.org/officeDocument/2006/relationships/image" Target="../media/image-1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0000" y="720000"/>
            <a:ext cx="30960000" cy="5943600"/>
          </a:xfrm>
          <a:prstGeom prst="roundRect">
            <a:avLst>
              <a:gd name="adj" fmla="val 1846"/>
            </a:avLst>
          </a:prstGeom>
          <a:solidFill>
            <a:srgbClr val="12355B"/>
          </a:solidFill>
          <a:ln/>
          <a:effectLst>
            <a:outerShdw sx="100000" sy="100000" kx="0" ky="0" algn="bl" rotWithShape="0" blurRad="63500" dist="38100" dir="5400000">
              <a:srgbClr val="8A8A8A">
                <a:alpha val="35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25992432" y="1030896"/>
            <a:ext cx="5577840" cy="3111662"/>
          </a:xfrm>
          <a:prstGeom prst="roundRect">
            <a:avLst>
              <a:gd name="adj" fmla="val 23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8100" dir="5400000">
              <a:srgbClr val="8A8A8A">
                <a:alpha val="35000"/>
              </a:srgbClr>
            </a:outerShdw>
          </a:effectLst>
        </p:spPr>
      </p:sp>
      <p:pic>
        <p:nvPicPr>
          <p:cNvPr id="4" name="Image 0" descr="/home/user/career-ops/6-tnasicon-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129592" y="1168056"/>
            <a:ext cx="5303520" cy="28373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22920" y="1177200"/>
            <a:ext cx="24449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700" b="1" spc="5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UNMASKING BREAST CANCER IN THE ACUTE ABDOMEN</a:t>
            </a:r>
            <a:endParaRPr lang="en-US" sz="5700" dirty="0"/>
          </a:p>
        </p:txBody>
      </p:sp>
      <p:sp>
        <p:nvSpPr>
          <p:cNvPr id="6" name="Text 3"/>
          <p:cNvSpPr/>
          <p:nvPr/>
        </p:nvSpPr>
        <p:spPr>
          <a:xfrm>
            <a:off x="1222920" y="2411640"/>
            <a:ext cx="2995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i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Rare Case of Metastatic Ileal Perforation from Invasive Ductal Carcinoma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1222920" y="3508920"/>
            <a:ext cx="29954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3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 </a:t>
            </a:r>
            <a:pPr algn="l" indent="0" marL="0">
              <a:spcAft>
                <a:spcPts val="900"/>
              </a:spcAft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Alla Varun Reddy</a:t>
            </a:r>
            <a:endParaRPr lang="en-US" sz="3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26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guidance of  </a:t>
            </a:r>
            <a:pPr algn="l" indent="0" marL="0">
              <a:spcAft>
                <a:spcPts val="9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&amp; HOD Dr. P. S. Saravanan</a:t>
            </a:r>
            <a:pPr algn="l" indent="0" marL="0">
              <a:spcAft>
                <a:spcPts val="900"/>
              </a:spcAft>
              <a:buNone/>
            </a:pPr>
            <a:r>
              <a:rPr lang="en-US" sz="26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algn="l" indent="0" marL="0">
              <a:spcAft>
                <a:spcPts val="9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Priyan</a:t>
            </a:r>
            <a:endParaRPr lang="en-US" sz="3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2300" i="1" dirty="0">
                <a:solidFill>
                  <a:srgbClr val="9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General Surgery</a:t>
            </a:r>
            <a:endParaRPr lang="en-US" sz="3100" dirty="0"/>
          </a:p>
        </p:txBody>
      </p:sp>
      <p:sp>
        <p:nvSpPr>
          <p:cNvPr id="8" name="Shape 5"/>
          <p:cNvSpPr/>
          <p:nvPr/>
        </p:nvSpPr>
        <p:spPr>
          <a:xfrm>
            <a:off x="720000" y="7075080"/>
            <a:ext cx="585216" cy="585216"/>
          </a:xfrm>
          <a:prstGeom prst="ellipse">
            <a:avLst/>
          </a:prstGeom>
          <a:solidFill>
            <a:srgbClr val="2A9D8F"/>
          </a:solidFill>
          <a:ln/>
          <a:effectLst>
            <a:outerShdw sx="100000" sy="100000" kx="0" ky="0" algn="bl" rotWithShape="0" blurRad="63500" dist="38100" dir="5400000">
              <a:srgbClr val="8A8A8A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20000" y="7075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1524672" y="7038504"/>
            <a:ext cx="92105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500" dirty="0"/>
          </a:p>
        </p:txBody>
      </p:sp>
      <p:sp>
        <p:nvSpPr>
          <p:cNvPr id="11" name="Text 8"/>
          <p:cNvSpPr/>
          <p:nvPr/>
        </p:nvSpPr>
        <p:spPr>
          <a:xfrm>
            <a:off x="720000" y="7806600"/>
            <a:ext cx="10015200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Gastrointestinal metastasis from breast carcinoma is uncommon; small-bowel perforation as the first presentation is exceedingly rare.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ductal carcinoma (IDC) usually spreads to bone, liver and lung — symptomatic bowel metastasis is easily mistaken for benign disease.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a young woman whose metastatic IDC first declared itself as an acute abdomen from ileal perforation.</a:t>
            </a:r>
            <a:endParaRPr lang="en-US" sz="2700" dirty="0"/>
          </a:p>
        </p:txBody>
      </p:sp>
      <p:sp>
        <p:nvSpPr>
          <p:cNvPr id="12" name="Shape 9"/>
          <p:cNvSpPr/>
          <p:nvPr/>
        </p:nvSpPr>
        <p:spPr>
          <a:xfrm>
            <a:off x="720000" y="13329576"/>
            <a:ext cx="585216" cy="585216"/>
          </a:xfrm>
          <a:prstGeom prst="ellipse">
            <a:avLst/>
          </a:prstGeom>
          <a:solidFill>
            <a:srgbClr val="2A9D8F"/>
          </a:solidFill>
          <a:ln/>
          <a:effectLst>
            <a:outerShdw sx="100000" sy="100000" kx="0" ky="0" algn="bl" rotWithShape="0" blurRad="63500" dist="38100" dir="5400000">
              <a:srgbClr val="8A8A8A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20000" y="13329576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1524672" y="13293000"/>
            <a:ext cx="92105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Presentation</a:t>
            </a:r>
            <a:endParaRPr lang="en-US" sz="3500" dirty="0"/>
          </a:p>
        </p:txBody>
      </p:sp>
      <p:sp>
        <p:nvSpPr>
          <p:cNvPr id="15" name="Text 12"/>
          <p:cNvSpPr/>
          <p:nvPr/>
        </p:nvSpPr>
        <p:spPr>
          <a:xfrm>
            <a:off x="720000" y="14061096"/>
            <a:ext cx="10015200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38-year-old woman with severe abdominal pain for 2 days.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NSAID use for a painful right breast lump previously misdiagnosed as a breast abscess.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examination: tachycardic, with generalized abdominal rigidity (peritonitis).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breast: firm, ill-defined lump with overlying skin changes.</a:t>
            </a:r>
            <a:endParaRPr lang="en-US" sz="2700" dirty="0"/>
          </a:p>
        </p:txBody>
      </p:sp>
      <p:sp>
        <p:nvSpPr>
          <p:cNvPr id="16" name="Shape 13"/>
          <p:cNvSpPr/>
          <p:nvPr/>
        </p:nvSpPr>
        <p:spPr>
          <a:xfrm>
            <a:off x="1156752" y="17691264"/>
            <a:ext cx="9141696" cy="9675216"/>
          </a:xfrm>
          <a:prstGeom prst="roundRect">
            <a:avLst>
              <a:gd name="adj" fmla="val 6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5000"/>
              </a:srgbClr>
            </a:outerShdw>
          </a:effectLst>
        </p:spPr>
      </p:sp>
      <p:pic>
        <p:nvPicPr>
          <p:cNvPr id="17" name="Image 1" descr="/home/user/career-ops/4-breast-lump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760" y="17755272"/>
            <a:ext cx="9013680" cy="9547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156752" y="27439632"/>
            <a:ext cx="9141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1. Right breast lump initially labelled a “breast abscess.”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720000" y="29652480"/>
            <a:ext cx="585216" cy="585216"/>
          </a:xfrm>
          <a:prstGeom prst="ellipse">
            <a:avLst/>
          </a:prstGeom>
          <a:solidFill>
            <a:srgbClr val="2A9D8F"/>
          </a:solidFill>
          <a:ln/>
          <a:effectLst>
            <a:outerShdw sx="100000" sy="100000" kx="0" ky="0" algn="bl" rotWithShape="0" blurRad="63500" dist="38100" dir="5400000">
              <a:srgbClr val="8A8A8A">
                <a:alpha val="35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720000" y="296524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1524672" y="29615904"/>
            <a:ext cx="92105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500" dirty="0"/>
          </a:p>
        </p:txBody>
      </p:sp>
      <p:sp>
        <p:nvSpPr>
          <p:cNvPr id="22" name="Shape 18"/>
          <p:cNvSpPr/>
          <p:nvPr/>
        </p:nvSpPr>
        <p:spPr>
          <a:xfrm>
            <a:off x="970535" y="30384000"/>
            <a:ext cx="3868522" cy="4443984"/>
          </a:xfrm>
          <a:prstGeom prst="roundRect">
            <a:avLst>
              <a:gd name="adj" fmla="val 14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5000"/>
              </a:srgbClr>
            </a:outerShdw>
          </a:effectLst>
        </p:spPr>
      </p:sp>
      <p:pic>
        <p:nvPicPr>
          <p:cNvPr id="23" name="Image 2" descr="/home/user/career-ops/1-xray-pneumoperitoneum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543" y="30448008"/>
            <a:ext cx="3740506" cy="4315968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113377" y="30384000"/>
            <a:ext cx="5371287" cy="4443984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5000"/>
              </a:srgbClr>
            </a:outerShdw>
          </a:effectLst>
        </p:spPr>
      </p:sp>
      <p:pic>
        <p:nvPicPr>
          <p:cNvPr id="25" name="Image 3" descr="/home/user/career-ops/2-ct-abdomen.jp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7385" y="30448008"/>
            <a:ext cx="5243271" cy="431596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20000" y="34901136"/>
            <a:ext cx="100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2. Erect radiograph — free sub-diaphragmatic air (pneumoperitoneum).   Fig 3. CECT abdomen — free air and fluid confirming hollow-viscus perforation.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720000" y="35724096"/>
            <a:ext cx="100152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Pneumoperitoneum on erect X-ray → hollow-viscus perforation.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CECT localized the perforation to the distal small bowel with peritoneal free fluid.</a:t>
            </a:r>
            <a:endParaRPr lang="en-US" sz="2700" dirty="0"/>
          </a:p>
        </p:txBody>
      </p:sp>
      <p:sp>
        <p:nvSpPr>
          <p:cNvPr id="28" name="Shape 22"/>
          <p:cNvSpPr/>
          <p:nvPr/>
        </p:nvSpPr>
        <p:spPr>
          <a:xfrm>
            <a:off x="11192400" y="7075080"/>
            <a:ext cx="585216" cy="585216"/>
          </a:xfrm>
          <a:prstGeom prst="ellipse">
            <a:avLst/>
          </a:prstGeom>
          <a:solidFill>
            <a:srgbClr val="2A9D8F"/>
          </a:solidFill>
          <a:ln/>
          <a:effectLst>
            <a:outerShdw sx="100000" sy="100000" kx="0" ky="0" algn="bl" rotWithShape="0" blurRad="63500" dist="38100" dir="5400000">
              <a:srgbClr val="8A8A8A">
                <a:alpha val="35000"/>
              </a:srgbClr>
            </a:outerShdw>
          </a:effectLst>
        </p:spPr>
      </p:sp>
      <p:sp>
        <p:nvSpPr>
          <p:cNvPr id="29" name="Text 23"/>
          <p:cNvSpPr/>
          <p:nvPr/>
        </p:nvSpPr>
        <p:spPr>
          <a:xfrm>
            <a:off x="11192400" y="7075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30" name="Text 24"/>
          <p:cNvSpPr/>
          <p:nvPr/>
        </p:nvSpPr>
        <p:spPr>
          <a:xfrm>
            <a:off x="11997072" y="7038504"/>
            <a:ext cx="92105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Operative Findings</a:t>
            </a:r>
            <a:endParaRPr lang="en-US" sz="3500" dirty="0"/>
          </a:p>
        </p:txBody>
      </p:sp>
      <p:sp>
        <p:nvSpPr>
          <p:cNvPr id="31" name="Shape 25"/>
          <p:cNvSpPr/>
          <p:nvPr/>
        </p:nvSpPr>
        <p:spPr>
          <a:xfrm>
            <a:off x="16672896" y="7806600"/>
            <a:ext cx="4534704" cy="8349018"/>
          </a:xfrm>
          <a:prstGeom prst="roundRect">
            <a:avLst>
              <a:gd name="adj" fmla="val 121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5000"/>
              </a:srgbClr>
            </a:outerShdw>
          </a:effectLst>
        </p:spPr>
      </p:sp>
      <p:pic>
        <p:nvPicPr>
          <p:cNvPr id="32" name="Image 4" descr="/home/user/career-ops/5-intraop-perforation.jpe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36904" y="7870608"/>
            <a:ext cx="4406688" cy="8221002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6672896" y="16228770"/>
            <a:ext cx="4534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4. Solitary ileal perforation identified at laparotomy.</a:t>
            </a:r>
            <a:endParaRPr lang="en-US" sz="1800" dirty="0"/>
          </a:p>
        </p:txBody>
      </p:sp>
      <p:sp>
        <p:nvSpPr>
          <p:cNvPr id="34" name="Text 27"/>
          <p:cNvSpPr/>
          <p:nvPr/>
        </p:nvSpPr>
        <p:spPr>
          <a:xfrm>
            <a:off x="11192400" y="7806600"/>
            <a:ext cx="5160456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exploratory laparotomy performed.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Solitary ileal perforation ≈ 0.5 × 0.5 cm, 40 cm proximal to the ileocaecal junction.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closure performed after a full-thickness biopsy of the perforation margin.</a:t>
            </a:r>
            <a:endParaRPr lang="en-US" sz="2700" dirty="0"/>
          </a:p>
        </p:txBody>
      </p:sp>
      <p:sp>
        <p:nvSpPr>
          <p:cNvPr id="35" name="Shape 28"/>
          <p:cNvSpPr/>
          <p:nvPr/>
        </p:nvSpPr>
        <p:spPr>
          <a:xfrm>
            <a:off x="11192400" y="18715938"/>
            <a:ext cx="585216" cy="585216"/>
          </a:xfrm>
          <a:prstGeom prst="ellipse">
            <a:avLst/>
          </a:prstGeom>
          <a:solidFill>
            <a:srgbClr val="2A9D8F"/>
          </a:solidFill>
          <a:ln/>
          <a:effectLst>
            <a:outerShdw sx="100000" sy="100000" kx="0" ky="0" algn="bl" rotWithShape="0" blurRad="63500" dist="38100" dir="5400000">
              <a:srgbClr val="8A8A8A">
                <a:alpha val="35000"/>
              </a:srgbClr>
            </a:outerShdw>
          </a:effectLst>
        </p:spPr>
      </p:sp>
      <p:sp>
        <p:nvSpPr>
          <p:cNvPr id="36" name="Text 29"/>
          <p:cNvSpPr/>
          <p:nvPr/>
        </p:nvSpPr>
        <p:spPr>
          <a:xfrm>
            <a:off x="11192400" y="1871593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0"/>
          <p:cNvSpPr/>
          <p:nvPr/>
        </p:nvSpPr>
        <p:spPr>
          <a:xfrm>
            <a:off x="11997072" y="18679362"/>
            <a:ext cx="92105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Histopathology</a:t>
            </a:r>
            <a:endParaRPr lang="en-US" sz="3500" dirty="0"/>
          </a:p>
        </p:txBody>
      </p:sp>
      <p:sp>
        <p:nvSpPr>
          <p:cNvPr id="38" name="Shape 31"/>
          <p:cNvSpPr/>
          <p:nvPr/>
        </p:nvSpPr>
        <p:spPr>
          <a:xfrm>
            <a:off x="11192400" y="19447458"/>
            <a:ext cx="10143216" cy="6076761"/>
          </a:xfrm>
          <a:prstGeom prst="roundRect">
            <a:avLst>
              <a:gd name="adj" fmla="val 90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5000"/>
              </a:srgbClr>
            </a:outerShdw>
          </a:effectLst>
        </p:spPr>
      </p:sp>
      <p:pic>
        <p:nvPicPr>
          <p:cNvPr id="39" name="Image 5" descr="/home/user/career-ops/3-histopath-idc.jpe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56408" y="19511466"/>
            <a:ext cx="10015200" cy="5948745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11192400" y="25597370"/>
            <a:ext cx="100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5. Breast trucut biopsy — invasive ductal carcinoma; concordant deposits at the ileal perforation margin (H&amp;E).</a:t>
            </a:r>
            <a:endParaRPr lang="en-US" sz="1800" dirty="0"/>
          </a:p>
        </p:txBody>
      </p:sp>
      <p:sp>
        <p:nvSpPr>
          <p:cNvPr id="41" name="Text 33"/>
          <p:cNvSpPr/>
          <p:nvPr/>
        </p:nvSpPr>
        <p:spPr>
          <a:xfrm>
            <a:off x="11192400" y="26420330"/>
            <a:ext cx="1001520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trucut biopsy: Invasive Ductal Carcinoma.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Ileal margin biopsy: metastatic deposits, morphologically concordant with the breast primary.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metastatic IDC as the cause of the perforation.</a:t>
            </a:r>
            <a:endParaRPr lang="en-US" sz="2700" dirty="0"/>
          </a:p>
        </p:txBody>
      </p:sp>
      <p:sp>
        <p:nvSpPr>
          <p:cNvPr id="42" name="Shape 34"/>
          <p:cNvSpPr/>
          <p:nvPr/>
        </p:nvSpPr>
        <p:spPr>
          <a:xfrm>
            <a:off x="11192400" y="30315674"/>
            <a:ext cx="585216" cy="585216"/>
          </a:xfrm>
          <a:prstGeom prst="ellipse">
            <a:avLst/>
          </a:prstGeom>
          <a:solidFill>
            <a:srgbClr val="2A9D8F"/>
          </a:solidFill>
          <a:ln/>
          <a:effectLst>
            <a:outerShdw sx="100000" sy="100000" kx="0" ky="0" algn="bl" rotWithShape="0" blurRad="63500" dist="38100" dir="5400000">
              <a:srgbClr val="8A8A8A">
                <a:alpha val="35000"/>
              </a:srgbClr>
            </a:outerShdw>
          </a:effectLst>
        </p:spPr>
      </p:sp>
      <p:sp>
        <p:nvSpPr>
          <p:cNvPr id="43" name="Text 35"/>
          <p:cNvSpPr/>
          <p:nvPr/>
        </p:nvSpPr>
        <p:spPr>
          <a:xfrm>
            <a:off x="11192400" y="3031567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800" dirty="0"/>
          </a:p>
        </p:txBody>
      </p:sp>
      <p:sp>
        <p:nvSpPr>
          <p:cNvPr id="44" name="Text 36"/>
          <p:cNvSpPr/>
          <p:nvPr/>
        </p:nvSpPr>
        <p:spPr>
          <a:xfrm>
            <a:off x="11997072" y="30279098"/>
            <a:ext cx="92105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 Pathway</a:t>
            </a:r>
            <a:endParaRPr lang="en-US" sz="3500" dirty="0"/>
          </a:p>
        </p:txBody>
      </p:sp>
      <p:sp>
        <p:nvSpPr>
          <p:cNvPr id="45" name="Shape 37"/>
          <p:cNvSpPr/>
          <p:nvPr/>
        </p:nvSpPr>
        <p:spPr>
          <a:xfrm>
            <a:off x="11192400" y="31047194"/>
            <a:ext cx="10015200" cy="893064"/>
          </a:xfrm>
          <a:prstGeom prst="roundRect">
            <a:avLst>
              <a:gd name="adj" fmla="val 8191"/>
            </a:avLst>
          </a:prstGeom>
          <a:solidFill>
            <a:srgbClr val="EAF5F3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46" name="Text 38"/>
          <p:cNvSpPr/>
          <p:nvPr/>
        </p:nvSpPr>
        <p:spPr>
          <a:xfrm>
            <a:off x="11393568" y="31047194"/>
            <a:ext cx="9612864" cy="893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abdomen + generalized peritonitis</a:t>
            </a:r>
            <a:endParaRPr lang="en-US" sz="2500" dirty="0"/>
          </a:p>
        </p:txBody>
      </p:sp>
      <p:sp>
        <p:nvSpPr>
          <p:cNvPr id="47" name="Shape 39"/>
          <p:cNvSpPr/>
          <p:nvPr/>
        </p:nvSpPr>
        <p:spPr>
          <a:xfrm>
            <a:off x="16044552" y="31985978"/>
            <a:ext cx="310896" cy="365760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48" name="Shape 40"/>
          <p:cNvSpPr/>
          <p:nvPr/>
        </p:nvSpPr>
        <p:spPr>
          <a:xfrm>
            <a:off x="11192400" y="32397458"/>
            <a:ext cx="10015200" cy="893064"/>
          </a:xfrm>
          <a:prstGeom prst="roundRect">
            <a:avLst>
              <a:gd name="adj" fmla="val 8191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49" name="Text 41"/>
          <p:cNvSpPr/>
          <p:nvPr/>
        </p:nvSpPr>
        <p:spPr>
          <a:xfrm>
            <a:off x="11393568" y="32397458"/>
            <a:ext cx="9612864" cy="893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Erect abdominal X-ray: pneumoperitoneum</a:t>
            </a:r>
            <a:endParaRPr lang="en-US" sz="2500" dirty="0"/>
          </a:p>
        </p:txBody>
      </p:sp>
      <p:sp>
        <p:nvSpPr>
          <p:cNvPr id="50" name="Shape 42"/>
          <p:cNvSpPr/>
          <p:nvPr/>
        </p:nvSpPr>
        <p:spPr>
          <a:xfrm>
            <a:off x="16044552" y="33336242"/>
            <a:ext cx="310896" cy="365760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51" name="Shape 43"/>
          <p:cNvSpPr/>
          <p:nvPr/>
        </p:nvSpPr>
        <p:spPr>
          <a:xfrm>
            <a:off x="11192400" y="33747722"/>
            <a:ext cx="10015200" cy="1274064"/>
          </a:xfrm>
          <a:prstGeom prst="roundRect">
            <a:avLst>
              <a:gd name="adj" fmla="val 5742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52" name="Text 44"/>
          <p:cNvSpPr/>
          <p:nvPr/>
        </p:nvSpPr>
        <p:spPr>
          <a:xfrm>
            <a:off x="11393568" y="33747722"/>
            <a:ext cx="9612864" cy="1274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laparotomy → solitary ileal perforation (0.5 cm, 40 cm from IC junction)</a:t>
            </a:r>
            <a:endParaRPr lang="en-US" sz="2500" dirty="0"/>
          </a:p>
        </p:txBody>
      </p:sp>
      <p:sp>
        <p:nvSpPr>
          <p:cNvPr id="53" name="Shape 45"/>
          <p:cNvSpPr/>
          <p:nvPr/>
        </p:nvSpPr>
        <p:spPr>
          <a:xfrm>
            <a:off x="16044552" y="35067506"/>
            <a:ext cx="310896" cy="365760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54" name="Shape 46"/>
          <p:cNvSpPr/>
          <p:nvPr/>
        </p:nvSpPr>
        <p:spPr>
          <a:xfrm>
            <a:off x="11192400" y="35478986"/>
            <a:ext cx="10015200" cy="1274064"/>
          </a:xfrm>
          <a:prstGeom prst="roundRect">
            <a:avLst>
              <a:gd name="adj" fmla="val 5742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55" name="Text 47"/>
          <p:cNvSpPr/>
          <p:nvPr/>
        </p:nvSpPr>
        <p:spPr>
          <a:xfrm>
            <a:off x="11393568" y="35478986"/>
            <a:ext cx="9612864" cy="1274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closure + perforation-margin biopsy; breast trucut biopsy</a:t>
            </a:r>
            <a:endParaRPr lang="en-US" sz="2500" dirty="0"/>
          </a:p>
        </p:txBody>
      </p:sp>
      <p:sp>
        <p:nvSpPr>
          <p:cNvPr id="56" name="Shape 48"/>
          <p:cNvSpPr/>
          <p:nvPr/>
        </p:nvSpPr>
        <p:spPr>
          <a:xfrm>
            <a:off x="16044552" y="36798770"/>
            <a:ext cx="310896" cy="365760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57" name="Shape 49"/>
          <p:cNvSpPr/>
          <p:nvPr/>
        </p:nvSpPr>
        <p:spPr>
          <a:xfrm>
            <a:off x="11192400" y="37210250"/>
            <a:ext cx="10015200" cy="1274064"/>
          </a:xfrm>
          <a:prstGeom prst="roundRect">
            <a:avLst>
              <a:gd name="adj" fmla="val 5742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58" name="Text 50"/>
          <p:cNvSpPr/>
          <p:nvPr/>
        </p:nvSpPr>
        <p:spPr>
          <a:xfrm>
            <a:off x="11393568" y="37210250"/>
            <a:ext cx="9612864" cy="1274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Breast: Invasive Ductal Carcinoma   |   Ileum: metastatic deposits</a:t>
            </a:r>
            <a:endParaRPr lang="en-US" sz="2500" dirty="0"/>
          </a:p>
        </p:txBody>
      </p:sp>
      <p:sp>
        <p:nvSpPr>
          <p:cNvPr id="59" name="Shape 51"/>
          <p:cNvSpPr/>
          <p:nvPr/>
        </p:nvSpPr>
        <p:spPr>
          <a:xfrm>
            <a:off x="16044552" y="38530034"/>
            <a:ext cx="310896" cy="365760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60" name="Shape 52"/>
          <p:cNvSpPr/>
          <p:nvPr/>
        </p:nvSpPr>
        <p:spPr>
          <a:xfrm>
            <a:off x="11192400" y="38941514"/>
            <a:ext cx="10015200" cy="893064"/>
          </a:xfrm>
          <a:prstGeom prst="roundRect">
            <a:avLst>
              <a:gd name="adj" fmla="val 8191"/>
            </a:avLst>
          </a:prstGeom>
          <a:solidFill>
            <a:srgbClr val="12355B"/>
          </a:solidFill>
          <a:ln/>
          <a:effectLst>
            <a:outerShdw sx="100000" sy="100000" kx="0" ky="0" algn="bl" rotWithShape="0" blurRad="63500" dist="38100" dir="5400000">
              <a:srgbClr val="8A8A8A">
                <a:alpha val="35000"/>
              </a:srgbClr>
            </a:outerShdw>
          </a:effectLst>
        </p:spPr>
      </p:sp>
      <p:sp>
        <p:nvSpPr>
          <p:cNvPr id="61" name="Text 53"/>
          <p:cNvSpPr/>
          <p:nvPr/>
        </p:nvSpPr>
        <p:spPr>
          <a:xfrm>
            <a:off x="11393568" y="38941514"/>
            <a:ext cx="9612864" cy="893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Metastatic breast carcinoma</a:t>
            </a:r>
            <a:endParaRPr lang="en-US" sz="2500" dirty="0"/>
          </a:p>
        </p:txBody>
      </p:sp>
      <p:sp>
        <p:nvSpPr>
          <p:cNvPr id="62" name="Shape 54"/>
          <p:cNvSpPr/>
          <p:nvPr/>
        </p:nvSpPr>
        <p:spPr>
          <a:xfrm>
            <a:off x="21664800" y="7075080"/>
            <a:ext cx="585216" cy="585216"/>
          </a:xfrm>
          <a:prstGeom prst="ellipse">
            <a:avLst/>
          </a:prstGeom>
          <a:solidFill>
            <a:srgbClr val="2A9D8F"/>
          </a:solidFill>
          <a:ln/>
          <a:effectLst>
            <a:outerShdw sx="100000" sy="100000" kx="0" ky="0" algn="bl" rotWithShape="0" blurRad="63500" dist="38100" dir="5400000">
              <a:srgbClr val="8A8A8A">
                <a:alpha val="35000"/>
              </a:srgbClr>
            </a:outerShdw>
          </a:effectLst>
        </p:spPr>
      </p:sp>
      <p:sp>
        <p:nvSpPr>
          <p:cNvPr id="63" name="Text 55"/>
          <p:cNvSpPr/>
          <p:nvPr/>
        </p:nvSpPr>
        <p:spPr>
          <a:xfrm>
            <a:off x="21664800" y="7075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800" dirty="0"/>
          </a:p>
        </p:txBody>
      </p:sp>
      <p:sp>
        <p:nvSpPr>
          <p:cNvPr id="64" name="Text 56"/>
          <p:cNvSpPr/>
          <p:nvPr/>
        </p:nvSpPr>
        <p:spPr>
          <a:xfrm>
            <a:off x="22469472" y="7038504"/>
            <a:ext cx="92105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3500" dirty="0"/>
          </a:p>
        </p:txBody>
      </p:sp>
      <p:sp>
        <p:nvSpPr>
          <p:cNvPr id="65" name="Text 57"/>
          <p:cNvSpPr/>
          <p:nvPr/>
        </p:nvSpPr>
        <p:spPr>
          <a:xfrm>
            <a:off x="21664800" y="7806600"/>
            <a:ext cx="10015200" cy="5431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GI tract is an unusual site for breast metastasis; the small bowel is rarer still, and perforation as the initial manifestation is exceptional — only isolated reports exist.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mechanism: serosal / haematogenous deposits → transmural infiltration → ischaemia and necrosis → perforation; chronic NSAID use may compound mucosal injury.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trap: acute peritonitis overshadows the primary, and the breast lump had been dismissed as an abscess — delaying the true diagnosis.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young woman with an acute abdomen and a breast lump, malignancy must remain in the differential.</a:t>
            </a:r>
            <a:endParaRPr lang="en-US" sz="2700" dirty="0"/>
          </a:p>
        </p:txBody>
      </p:sp>
      <p:sp>
        <p:nvSpPr>
          <p:cNvPr id="66" name="Shape 58"/>
          <p:cNvSpPr/>
          <p:nvPr/>
        </p:nvSpPr>
        <p:spPr>
          <a:xfrm>
            <a:off x="21664800" y="15066936"/>
            <a:ext cx="10015200" cy="4974336"/>
          </a:xfrm>
          <a:prstGeom prst="roundRect">
            <a:avLst>
              <a:gd name="adj" fmla="val 1838"/>
            </a:avLst>
          </a:prstGeom>
          <a:solidFill>
            <a:srgbClr val="FBF3DE"/>
          </a:solidFill>
          <a:ln w="25400">
            <a:solidFill>
              <a:srgbClr val="D4A017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5000"/>
              </a:srgbClr>
            </a:outerShdw>
          </a:effectLst>
        </p:spPr>
      </p:sp>
      <p:sp>
        <p:nvSpPr>
          <p:cNvPr id="67" name="Shape 59"/>
          <p:cNvSpPr/>
          <p:nvPr/>
        </p:nvSpPr>
        <p:spPr>
          <a:xfrm>
            <a:off x="21957408" y="15286392"/>
            <a:ext cx="566928" cy="566928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8" name="Text 60"/>
          <p:cNvSpPr/>
          <p:nvPr/>
        </p:nvSpPr>
        <p:spPr>
          <a:xfrm>
            <a:off x="21957408" y="15286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500" dirty="0"/>
          </a:p>
        </p:txBody>
      </p:sp>
      <p:sp>
        <p:nvSpPr>
          <p:cNvPr id="69" name="Text 61"/>
          <p:cNvSpPr/>
          <p:nvPr/>
        </p:nvSpPr>
        <p:spPr>
          <a:xfrm>
            <a:off x="22707216" y="15268104"/>
            <a:ext cx="8762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CASE IS UNIQUE</a:t>
            </a:r>
            <a:endParaRPr lang="en-US" sz="2700" dirty="0"/>
          </a:p>
        </p:txBody>
      </p:sp>
      <p:sp>
        <p:nvSpPr>
          <p:cNvPr id="70" name="Text 62"/>
          <p:cNvSpPr/>
          <p:nvPr/>
        </p:nvSpPr>
        <p:spPr>
          <a:xfrm>
            <a:off x="21957408" y="15908184"/>
            <a:ext cx="9448272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Ileal perforation was the FIRST manifestation of a previously undiagnosed breast cancer.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breast lump mislabelled as an abscess → chronic NSAID use → masked the underlying malignancy.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perforation-margin biopsy — an easily skipped step — clinched the diagnosis of metastasis.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handful of comparable cases have been reported worldwide.</a:t>
            </a:r>
            <a:endParaRPr lang="en-US" sz="2700" dirty="0"/>
          </a:p>
        </p:txBody>
      </p:sp>
      <p:sp>
        <p:nvSpPr>
          <p:cNvPr id="71" name="Shape 63"/>
          <p:cNvSpPr/>
          <p:nvPr/>
        </p:nvSpPr>
        <p:spPr>
          <a:xfrm>
            <a:off x="21664800" y="21870072"/>
            <a:ext cx="10015200" cy="4471416"/>
          </a:xfrm>
          <a:prstGeom prst="roundRect">
            <a:avLst>
              <a:gd name="adj" fmla="val 2045"/>
            </a:avLst>
          </a:prstGeom>
          <a:solidFill>
            <a:srgbClr val="EAF5F3"/>
          </a:solidFill>
          <a:ln w="25400">
            <a:solidFill>
              <a:srgbClr val="2A9D8F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5000"/>
              </a:srgbClr>
            </a:outerShdw>
          </a:effectLst>
        </p:spPr>
      </p:sp>
      <p:sp>
        <p:nvSpPr>
          <p:cNvPr id="72" name="Shape 64"/>
          <p:cNvSpPr/>
          <p:nvPr/>
        </p:nvSpPr>
        <p:spPr>
          <a:xfrm>
            <a:off x="21957408" y="22089528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73" name="Text 65"/>
          <p:cNvSpPr/>
          <p:nvPr/>
        </p:nvSpPr>
        <p:spPr>
          <a:xfrm>
            <a:off x="21957408" y="22089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2500" dirty="0"/>
          </a:p>
        </p:txBody>
      </p:sp>
      <p:sp>
        <p:nvSpPr>
          <p:cNvPr id="74" name="Text 66"/>
          <p:cNvSpPr/>
          <p:nvPr/>
        </p:nvSpPr>
        <p:spPr>
          <a:xfrm>
            <a:off x="22707216" y="22071240"/>
            <a:ext cx="8762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PEARLS</a:t>
            </a:r>
            <a:endParaRPr lang="en-US" sz="2700" dirty="0"/>
          </a:p>
        </p:txBody>
      </p:sp>
      <p:sp>
        <p:nvSpPr>
          <p:cNvPr id="75" name="Text 67"/>
          <p:cNvSpPr/>
          <p:nvPr/>
        </p:nvSpPr>
        <p:spPr>
          <a:xfrm>
            <a:off x="21957408" y="22711320"/>
            <a:ext cx="9448272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1E4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metastatic malignancy in any young adult with a spontaneous small-bowel perforation and no ulcer or trauma history.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1E4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biopsy the perforation margin — it may be the only tissue that reveals the diagnosis.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1E4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Re-examine a “benign” breast lump that fails to resolve; a missed primary delays oncological care.</a:t>
            </a:r>
            <a:endParaRPr lang="en-US" sz="2700" dirty="0"/>
          </a:p>
        </p:txBody>
      </p:sp>
      <p:sp>
        <p:nvSpPr>
          <p:cNvPr id="76" name="Shape 68"/>
          <p:cNvSpPr/>
          <p:nvPr/>
        </p:nvSpPr>
        <p:spPr>
          <a:xfrm>
            <a:off x="21664800" y="28170288"/>
            <a:ext cx="10015200" cy="4059936"/>
          </a:xfrm>
          <a:prstGeom prst="roundRect">
            <a:avLst>
              <a:gd name="adj" fmla="val 2252"/>
            </a:avLst>
          </a:prstGeom>
          <a:solidFill>
            <a:srgbClr val="12355B"/>
          </a:solidFill>
          <a:ln/>
          <a:effectLst>
            <a:outerShdw sx="100000" sy="100000" kx="0" ky="0" algn="bl" rotWithShape="0" blurRad="63500" dist="38100" dir="5400000">
              <a:srgbClr val="8A8A8A">
                <a:alpha val="35000"/>
              </a:srgbClr>
            </a:outerShdw>
          </a:effectLst>
        </p:spPr>
      </p:sp>
      <p:sp>
        <p:nvSpPr>
          <p:cNvPr id="77" name="Shape 69"/>
          <p:cNvSpPr/>
          <p:nvPr/>
        </p:nvSpPr>
        <p:spPr>
          <a:xfrm>
            <a:off x="21957408" y="28389744"/>
            <a:ext cx="566928" cy="56692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78" name="Text 70"/>
          <p:cNvSpPr/>
          <p:nvPr/>
        </p:nvSpPr>
        <p:spPr>
          <a:xfrm>
            <a:off x="21957408" y="28389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500" dirty="0"/>
          </a:p>
        </p:txBody>
      </p:sp>
      <p:sp>
        <p:nvSpPr>
          <p:cNvPr id="79" name="Text 71"/>
          <p:cNvSpPr/>
          <p:nvPr/>
        </p:nvSpPr>
        <p:spPr>
          <a:xfrm>
            <a:off x="22707216" y="28371456"/>
            <a:ext cx="8762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700" dirty="0"/>
          </a:p>
        </p:txBody>
      </p:sp>
      <p:sp>
        <p:nvSpPr>
          <p:cNvPr id="80" name="Text 72"/>
          <p:cNvSpPr/>
          <p:nvPr/>
        </p:nvSpPr>
        <p:spPr>
          <a:xfrm>
            <a:off x="21957408" y="29011536"/>
            <a:ext cx="9448272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Ileal perforation can rarely be the presenting manifestation of metastatic breast carcinoma.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 index of suspicion and early histopathological confirmation are essential for accurate diagnosis.</a:t>
            </a:r>
            <a:endParaRPr lang="en-US" sz="27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27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demands emergency surgery followed by evaluation and treatment of the primary breast malignancy.</a:t>
            </a:r>
            <a:endParaRPr lang="en-US" sz="2700" dirty="0"/>
          </a:p>
        </p:txBody>
      </p:sp>
      <p:sp>
        <p:nvSpPr>
          <p:cNvPr id="81" name="Shape 73"/>
          <p:cNvSpPr/>
          <p:nvPr/>
        </p:nvSpPr>
        <p:spPr>
          <a:xfrm>
            <a:off x="21664800" y="34059024"/>
            <a:ext cx="585216" cy="585216"/>
          </a:xfrm>
          <a:prstGeom prst="ellipse">
            <a:avLst/>
          </a:prstGeom>
          <a:solidFill>
            <a:srgbClr val="2A9D8F"/>
          </a:solidFill>
          <a:ln/>
          <a:effectLst>
            <a:outerShdw sx="100000" sy="100000" kx="0" ky="0" algn="bl" rotWithShape="0" blurRad="63500" dist="38100" dir="5400000">
              <a:srgbClr val="8A8A8A">
                <a:alpha val="35000"/>
              </a:srgbClr>
            </a:outerShdw>
          </a:effectLst>
        </p:spPr>
      </p:sp>
      <p:sp>
        <p:nvSpPr>
          <p:cNvPr id="82" name="Text 74"/>
          <p:cNvSpPr/>
          <p:nvPr/>
        </p:nvSpPr>
        <p:spPr>
          <a:xfrm>
            <a:off x="21664800" y="3405902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800" dirty="0"/>
          </a:p>
        </p:txBody>
      </p:sp>
      <p:sp>
        <p:nvSpPr>
          <p:cNvPr id="83" name="Text 75"/>
          <p:cNvSpPr/>
          <p:nvPr/>
        </p:nvSpPr>
        <p:spPr>
          <a:xfrm>
            <a:off x="22469472" y="34022448"/>
            <a:ext cx="92105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References</a:t>
            </a:r>
            <a:endParaRPr lang="en-US" sz="3500" dirty="0"/>
          </a:p>
        </p:txBody>
      </p:sp>
      <p:sp>
        <p:nvSpPr>
          <p:cNvPr id="84" name="Text 76"/>
          <p:cNvSpPr/>
          <p:nvPr/>
        </p:nvSpPr>
        <p:spPr>
          <a:xfrm>
            <a:off x="21664800" y="34790544"/>
            <a:ext cx="1001520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8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Idelevich E, et al. Small-bowel obstruction / perforation caused by metastatic breast carcinoma. World J Surg Oncol.</a:t>
            </a:r>
            <a:endParaRPr lang="en-US" sz="18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8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McLemore EC, et al. Breast cancer: presentation and intervention in gastrointestinal metastasis. Ann Surg Oncol.</a:t>
            </a:r>
            <a:endParaRPr lang="en-US" sz="18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8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Ambroggi M, et al. Metastatic breast cancer to the gastrointestinal tract: report and review. Tumori.</a:t>
            </a:r>
            <a:endParaRPr lang="en-US" sz="1800" dirty="0"/>
          </a:p>
        </p:txBody>
      </p:sp>
      <p:sp>
        <p:nvSpPr>
          <p:cNvPr id="85" name="Shape 77"/>
          <p:cNvSpPr/>
          <p:nvPr/>
        </p:nvSpPr>
        <p:spPr>
          <a:xfrm>
            <a:off x="720000" y="41611320"/>
            <a:ext cx="30960000" cy="868680"/>
          </a:xfrm>
          <a:prstGeom prst="roundRect">
            <a:avLst>
              <a:gd name="adj" fmla="val 8421"/>
            </a:avLst>
          </a:prstGeom>
          <a:solidFill>
            <a:srgbClr val="12355B"/>
          </a:solidFill>
          <a:ln/>
        </p:spPr>
      </p:sp>
      <p:sp>
        <p:nvSpPr>
          <p:cNvPr id="86" name="Text 78"/>
          <p:cNvSpPr/>
          <p:nvPr/>
        </p:nvSpPr>
        <p:spPr>
          <a:xfrm>
            <a:off x="1177200" y="41611320"/>
            <a:ext cx="2364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TNASICON 2026</a:t>
            </a:r>
            <a:pPr algn="l" indent="0" marL="0">
              <a:buNone/>
            </a:pPr>
            <a:r>
              <a:rPr lang="en-US" sz="2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49th Annual Conference · Coimbatore, Tamil Nadu · August 6–9, 2026</a:t>
            </a:r>
            <a:endParaRPr lang="en-US" sz="2100" dirty="0"/>
          </a:p>
        </p:txBody>
      </p:sp>
      <p:sp>
        <p:nvSpPr>
          <p:cNvPr id="87" name="Text 79"/>
          <p:cNvSpPr/>
          <p:nvPr/>
        </p:nvSpPr>
        <p:spPr>
          <a:xfrm>
            <a:off x="23907600" y="4161132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i="1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Report  ·  Department of General Surgery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2026-07-20T16:26:55Z</dcterms:created>
  <dcterms:modified xsi:type="dcterms:W3CDTF">2026-07-20T16:26:55Z</dcterms:modified>
</cp:coreProperties>
</file>